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a:t>
            </a:r>
            <a:r>
              <a:rPr lang="en-IN" sz="4400" b="0" u="none" strike="noStrike">
                <a:solidFill>
                  <a:srgbClr val="000000"/>
                </a:solidFill>
                <a:effectLst/>
                <a:uFillTx/>
                <a:latin typeface="Arial"/>
              </a:rPr>
              <a:t>text format</a:t>
            </a:r>
            <a:endParaRPr lang="en-IN" sz="4400" b="0" u="none" strike="noStrike">
              <a:solidFill>
                <a:srgbClr val="000000"/>
              </a:solidFill>
              <a:effectLst/>
              <a:uFillTx/>
              <a:latin typeface="Arial"/>
            </a:endParaRPr>
          </a:p>
        </p:txBody>
      </p:sp>
      <p:sp>
        <p:nvSpPr>
          <p:cNvPr id="3"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rmAutofit/>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4" name="PlaceHolder 3"/>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5" name="PlaceHolder 4"/>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 name="PlaceHolder 5"/>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FF7F4F9D-B85E-4436-BA49-745D8E2BB9B7}"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rot="5400000">
            <a:off x="7133400" y="1956240"/>
            <a:ext cx="5811480" cy="262872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8" name="PlaceHolder 2"/>
          <p:cNvSpPr>
            <a:spLocks noGrp="1"/>
          </p:cNvSpPr>
          <p:nvPr>
            <p:ph type="body"/>
          </p:nvPr>
        </p:nvSpPr>
        <p:spPr>
          <a:xfrm rot="5400000">
            <a:off x="1800000" y="-596160"/>
            <a:ext cx="5811480" cy="7733880"/>
          </a:xfrm>
          <a:prstGeom prst="rect">
            <a:avLst/>
          </a:prstGeom>
          <a:noFill/>
          <a:ln w="0">
            <a:noFill/>
          </a:ln>
        </p:spPr>
        <p:txBody>
          <a:bodyPr lIns="91440" tIns="45720" rIns="91440" bIns="45720" anchor="t">
            <a:normAutofit/>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F673E12A-C3A1-469E-A69A-C7A00D3607E7}"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rmAutofit/>
          </a:bodyPr>
          <a:lstStyle>
            <a:lvl1pPr indent="0" algn="l">
              <a:buNone/>
              <a:defRPr lang="en-IN" sz="6000" b="0" u="none" strike="noStrike">
                <a:solidFill>
                  <a:srgbClr val="000000"/>
                </a:solidFill>
                <a:effectLst/>
                <a:uFillTx/>
                <a:latin typeface="Arial"/>
              </a:defRPr>
            </a:lvl1pPr>
          </a:lstStyle>
          <a:p>
            <a:pPr indent="0" algn="l">
              <a:buNone/>
            </a:pPr>
            <a:r>
              <a:rPr lang="en-IN" sz="6000" b="0" u="none" strike="noStrike">
                <a:solidFill>
                  <a:srgbClr val="000000"/>
                </a:solidFill>
                <a:effectLst/>
                <a:uFillTx/>
                <a:latin typeface="Arial"/>
              </a:rPr>
              <a:t>Click </a:t>
            </a:r>
            <a:r>
              <a:rPr lang="en-IN" sz="6000" b="0" u="none" strike="noStrike">
                <a:solidFill>
                  <a:srgbClr val="000000"/>
                </a:solidFill>
                <a:effectLst/>
                <a:uFillTx/>
                <a:latin typeface="Arial"/>
              </a:rPr>
              <a:t>to </a:t>
            </a:r>
            <a:r>
              <a:rPr lang="en-IN" sz="6000" b="0" u="none" strike="noStrike">
                <a:solidFill>
                  <a:srgbClr val="000000"/>
                </a:solidFill>
                <a:effectLst/>
                <a:uFillTx/>
                <a:latin typeface="Arial"/>
              </a:rPr>
              <a:t>edit </a:t>
            </a:r>
            <a:r>
              <a:rPr lang="en-IN" sz="6000" b="0" u="none" strike="noStrike">
                <a:solidFill>
                  <a:srgbClr val="000000"/>
                </a:solidFill>
                <a:effectLst/>
                <a:uFillTx/>
                <a:latin typeface="Arial"/>
              </a:rPr>
              <a:t>the </a:t>
            </a:r>
            <a:r>
              <a:rPr lang="en-IN" sz="6000" b="0" u="none" strike="noStrike">
                <a:solidFill>
                  <a:srgbClr val="000000"/>
                </a:solidFill>
                <a:effectLst/>
                <a:uFillTx/>
                <a:latin typeface="Arial"/>
              </a:rPr>
              <a:t>title </a:t>
            </a:r>
            <a:r>
              <a:rPr lang="en-IN" sz="6000" b="0" u="none" strike="noStrike">
                <a:solidFill>
                  <a:srgbClr val="000000"/>
                </a:solidFill>
                <a:effectLst/>
                <a:uFillTx/>
                <a:latin typeface="Arial"/>
              </a:rPr>
              <a:t>text </a:t>
            </a:r>
            <a:r>
              <a:rPr lang="en-IN" sz="6000" b="0" u="none" strike="noStrike">
                <a:solidFill>
                  <a:srgbClr val="000000"/>
                </a:solidFill>
                <a:effectLst/>
                <a:uFillTx/>
                <a:latin typeface="Arial"/>
              </a:rPr>
              <a:t>form</a:t>
            </a:r>
            <a:r>
              <a:rPr lang="en-IN" sz="6000" b="0" u="none" strike="noStrike">
                <a:solidFill>
                  <a:srgbClr val="000000"/>
                </a:solidFill>
                <a:effectLst/>
                <a:uFillTx/>
                <a:latin typeface="Arial"/>
              </a:rPr>
              <a:t>at</a:t>
            </a:r>
            <a:endParaRPr lang="en-IN" sz="6000" b="0" u="none" strike="noStrike">
              <a:solidFill>
                <a:srgbClr val="000000"/>
              </a:solidFill>
              <a:effectLst/>
              <a:uFillTx/>
              <a:latin typeface="Arial"/>
            </a:endParaRPr>
          </a:p>
        </p:txBody>
      </p:sp>
      <p:sp>
        <p:nvSpPr>
          <p:cNvPr id="1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rmAutofit fontScale="47500" lnSpcReduction="19999"/>
          </a:bodyPr>
          <a:lstStyle>
            <a:lvl1pPr algn="l">
              <a:spcBef>
                <a:spcPts val="1417"/>
              </a:spcBef>
              <a:buClr>
                <a:srgbClr val="000000"/>
              </a:buClr>
              <a:buSzPct val="45000"/>
              <a:buFont typeface="Wingdings" charset="2"/>
              <a:buChar char=""/>
              <a:defRPr lang="en-IN"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IN" sz="24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IN" sz="24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IN" sz="24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IN" sz="24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IN" sz="24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IN" sz="24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IN" sz="2400" b="0" u="none" strike="noStrike">
              <a:solidFill>
                <a:srgbClr val="000000"/>
              </a:solidFill>
              <a:effectLst/>
              <a:uFillTx/>
              <a:latin typeface="Arial"/>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43BB3DCC-842C-4F24-81DE-A0BB950818D7}"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bg>
      <p:bgPr>
        <a:solidFill>
          <a:schemeClr val="lt1"/>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8"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rmAutofit fontScale="85000" lnSpcReduction="9999"/>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19"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rmAutofit fontScale="85000" lnSpcReduction="9999"/>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20" name="PlaceHolder 4"/>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1" name="PlaceHolder 5"/>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2" name="PlaceHolder 6"/>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EDD810A4-31DC-42DA-A283-0065F3B7712F}"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24"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rmAutofit fontScale="25000" lnSpcReduction="19999"/>
          </a:bodyPr>
          <a:lstStyle>
            <a:lvl1pPr algn="l">
              <a:spcBef>
                <a:spcPts val="1417"/>
              </a:spcBef>
              <a:buClr>
                <a:srgbClr val="000000"/>
              </a:buClr>
              <a:buSzPct val="45000"/>
              <a:buFont typeface="Wingdings" charset="2"/>
              <a:buChar char=""/>
              <a:defRPr lang="en-IN"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IN" sz="24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IN" sz="24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IN" sz="24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IN" sz="24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IN" sz="24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IN" sz="24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IN" sz="2400" b="0" u="none" strike="noStrike">
              <a:solidFill>
                <a:srgbClr val="000000"/>
              </a:solidFill>
              <a:effectLst/>
              <a:uFillTx/>
              <a:latin typeface="Arial"/>
            </a:endParaRPr>
          </a:p>
        </p:txBody>
      </p:sp>
      <p:sp>
        <p:nvSpPr>
          <p:cNvPr id="25"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rmAutofit fontScale="85000" lnSpcReduction="19999"/>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26"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rmAutofit fontScale="25000" lnSpcReduction="19999"/>
          </a:bodyPr>
          <a:lstStyle>
            <a:lvl1pPr algn="l">
              <a:spcBef>
                <a:spcPts val="1417"/>
              </a:spcBef>
              <a:buClr>
                <a:srgbClr val="000000"/>
              </a:buClr>
              <a:buSzPct val="45000"/>
              <a:buFont typeface="Wingdings" charset="2"/>
              <a:buChar char=""/>
              <a:defRPr lang="en-IN"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IN" sz="24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IN" sz="24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IN" sz="24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IN" sz="24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IN" sz="24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IN" sz="24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IN" sz="2400" b="0" u="none" strike="noStrike">
              <a:solidFill>
                <a:srgbClr val="000000"/>
              </a:solidFill>
              <a:effectLst/>
              <a:uFillTx/>
              <a:latin typeface="Arial"/>
            </a:endParaRPr>
          </a:p>
        </p:txBody>
      </p:sp>
      <p:sp>
        <p:nvSpPr>
          <p:cNvPr id="27"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rmAutofit fontScale="85000" lnSpcReduction="19999"/>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28" name="PlaceHolder 6"/>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9" name="PlaceHolder 7"/>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0" name="PlaceHolder 8"/>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23C401E9-DCAB-469C-9C9D-5F45F40F09EE}"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32" name="PlaceHolder 2"/>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33" name="PlaceHolder 3"/>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4" name="PlaceHolder 4"/>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9F275E09-4450-4202-AD6F-1FAA172567EE}"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35" name="PlaceHolder 1"/>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36" name="PlaceHolder 2"/>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7" name="PlaceHolder 3"/>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36EFA96C-9FA5-425D-9602-0529D16BA1EF}"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bg>
      <p:bgPr>
        <a:solidFill>
          <a:schemeClr val="lt1"/>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rmAutofit/>
          </a:bodyPr>
          <a:lstStyle>
            <a:lvl1pPr indent="0" algn="l">
              <a:buNone/>
              <a:defRPr lang="en-IN" sz="3200" b="0" u="none" strike="noStrike">
                <a:solidFill>
                  <a:srgbClr val="000000"/>
                </a:solidFill>
                <a:effectLst/>
                <a:uFillTx/>
                <a:latin typeface="Arial"/>
              </a:defRPr>
            </a:lvl1pPr>
          </a:lstStyle>
          <a:p>
            <a:pPr indent="0" algn="l">
              <a:buNone/>
            </a:pPr>
            <a:r>
              <a:rPr lang="en-IN" sz="3200" b="0" u="none" strike="noStrike">
                <a:solidFill>
                  <a:srgbClr val="000000"/>
                </a:solidFill>
                <a:effectLst/>
                <a:uFillTx/>
                <a:latin typeface="Arial"/>
              </a:rPr>
              <a:t>Click to edit the title text format</a:t>
            </a:r>
            <a:endParaRPr lang="en-IN" sz="3200" b="0" u="none" strike="noStrike">
              <a:solidFill>
                <a:srgbClr val="000000"/>
              </a:solidFill>
              <a:effectLst/>
              <a:uFillTx/>
              <a:latin typeface="Arial"/>
            </a:endParaRPr>
          </a:p>
        </p:txBody>
      </p:sp>
      <p:sp>
        <p:nvSpPr>
          <p:cNvPr id="39"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rmAutofit lnSpcReduction="9999"/>
          </a:bodyPr>
          <a:lstStyle>
            <a:lvl1pPr algn="l">
              <a:spcBef>
                <a:spcPts val="1417"/>
              </a:spcBef>
              <a:buClr>
                <a:srgbClr val="000000"/>
              </a:buClr>
              <a:buSzPct val="45000"/>
              <a:buFont typeface="Wingdings" charset="2"/>
              <a:buChar char=""/>
              <a:defRPr lang="en-IN"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32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32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32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32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32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3200" b="0" u="none" strike="noStrike">
                <a:solidFill>
                  <a:srgbClr val="000000"/>
                </a:solidFill>
                <a:effectLst/>
                <a:uFillTx/>
                <a:latin typeface="Arial"/>
              </a:defRPr>
            </a:lvl7pPr>
          </a:lstStyle>
          <a:p>
            <a:pPr marL="457200" indent="-431640" algn="l">
              <a:spcBef>
                <a:spcPts val="1417"/>
              </a:spcBef>
              <a:buClr>
                <a:srgbClr val="000000"/>
              </a:buClr>
              <a:buSzPct val="45000"/>
              <a:buFont typeface="Wingdings" charset="2"/>
              <a:buChar char=""/>
            </a:pPr>
            <a:r>
              <a:rPr lang="en-IN" sz="3200" b="0" u="none" strike="noStrike">
                <a:solidFill>
                  <a:srgbClr val="000000"/>
                </a:solidFill>
                <a:effectLst/>
                <a:uFillTx/>
                <a:latin typeface="Arial"/>
              </a:rPr>
              <a:t>Click to edit the outline text format</a:t>
            </a:r>
            <a:endParaRPr lang="en-IN" sz="3200" b="0" u="none" strike="noStrike">
              <a:solidFill>
                <a:srgbClr val="000000"/>
              </a:solidFill>
              <a:effectLst/>
              <a:uFillTx/>
              <a:latin typeface="Arial"/>
            </a:endParaRPr>
          </a:p>
          <a:p>
            <a:pPr marL="914400" lvl="1" indent="-406440" algn="l">
              <a:spcBef>
                <a:spcPts val="1134"/>
              </a:spcBef>
              <a:buClr>
                <a:srgbClr val="000000"/>
              </a:buClr>
              <a:buSzPct val="75000"/>
              <a:buFont typeface="Symbol" charset="2"/>
              <a:buChar char=""/>
            </a:pPr>
            <a:r>
              <a:rPr lang="en-IN" sz="3200" b="0" u="none" strike="noStrike">
                <a:solidFill>
                  <a:srgbClr val="000000"/>
                </a:solidFill>
                <a:effectLst/>
                <a:uFillTx/>
                <a:latin typeface="Arial"/>
              </a:rPr>
              <a:t>Second Outline Level</a:t>
            </a:r>
            <a:endParaRPr lang="en-IN" sz="3200" b="0" u="none" strike="noStrike">
              <a:solidFill>
                <a:srgbClr val="000000"/>
              </a:solidFill>
              <a:effectLst/>
              <a:uFillTx/>
              <a:latin typeface="Arial"/>
            </a:endParaRPr>
          </a:p>
          <a:p>
            <a:pPr marL="1371600" lvl="2" indent="-380880" algn="l">
              <a:spcBef>
                <a:spcPts val="850"/>
              </a:spcBef>
              <a:buClr>
                <a:srgbClr val="000000"/>
              </a:buClr>
              <a:buSzPct val="45000"/>
              <a:buFont typeface="Wingdings" charset="2"/>
              <a:buChar char=""/>
            </a:pPr>
            <a:r>
              <a:rPr lang="en-IN" sz="3200" b="0" u="none" strike="noStrike">
                <a:solidFill>
                  <a:srgbClr val="000000"/>
                </a:solidFill>
                <a:effectLst/>
                <a:uFillTx/>
                <a:latin typeface="Arial"/>
              </a:rPr>
              <a:t>Third Outline Level</a:t>
            </a:r>
            <a:endParaRPr lang="en-IN" sz="3200" b="0" u="none" strike="noStrike">
              <a:solidFill>
                <a:srgbClr val="000000"/>
              </a:solidFill>
              <a:effectLst/>
              <a:uFillTx/>
              <a:latin typeface="Arial"/>
            </a:endParaRPr>
          </a:p>
          <a:p>
            <a:pPr marL="1828800" lvl="3" indent="-355680" algn="l">
              <a:spcBef>
                <a:spcPts val="567"/>
              </a:spcBef>
              <a:buClr>
                <a:srgbClr val="000000"/>
              </a:buClr>
              <a:buSzPct val="75000"/>
              <a:buFont typeface="Symbol" charset="2"/>
              <a:buChar char=""/>
            </a:pPr>
            <a:r>
              <a:rPr lang="en-IN" sz="3200" b="0" u="none" strike="noStrike">
                <a:solidFill>
                  <a:srgbClr val="000000"/>
                </a:solidFill>
                <a:effectLst/>
                <a:uFillTx/>
                <a:latin typeface="Arial"/>
              </a:rPr>
              <a:t>Fourth Outline Level</a:t>
            </a:r>
            <a:endParaRPr lang="en-IN" sz="3200" b="0" u="none" strike="noStrike">
              <a:solidFill>
                <a:srgbClr val="000000"/>
              </a:solidFill>
              <a:effectLst/>
              <a:uFillTx/>
              <a:latin typeface="Arial"/>
            </a:endParaRPr>
          </a:p>
          <a:p>
            <a:pPr marL="2286000" lvl="4" indent="-355680" algn="l">
              <a:spcBef>
                <a:spcPts val="283"/>
              </a:spcBef>
              <a:buClr>
                <a:srgbClr val="000000"/>
              </a:buClr>
              <a:buSzPct val="45000"/>
              <a:buFont typeface="Wingdings" charset="2"/>
              <a:buChar char=""/>
            </a:pPr>
            <a:r>
              <a:rPr lang="en-IN" sz="3200" b="0" u="none" strike="noStrike">
                <a:solidFill>
                  <a:srgbClr val="000000"/>
                </a:solidFill>
                <a:effectLst/>
                <a:uFillTx/>
                <a:latin typeface="Arial"/>
              </a:rPr>
              <a:t>Fifth Outline Level</a:t>
            </a:r>
            <a:endParaRPr lang="en-IN" sz="3200" b="0" u="none" strike="noStrike">
              <a:solidFill>
                <a:srgbClr val="000000"/>
              </a:solidFill>
              <a:effectLst/>
              <a:uFillTx/>
              <a:latin typeface="Arial"/>
            </a:endParaRPr>
          </a:p>
          <a:p>
            <a:pPr marL="2743200" lvl="5" indent="-355680" algn="l">
              <a:spcBef>
                <a:spcPts val="283"/>
              </a:spcBef>
              <a:buClr>
                <a:srgbClr val="000000"/>
              </a:buClr>
              <a:buSzPct val="45000"/>
              <a:buFont typeface="Wingdings" charset="2"/>
              <a:buChar char=""/>
            </a:pPr>
            <a:r>
              <a:rPr lang="en-IN" sz="3200" b="0" u="none" strike="noStrike">
                <a:solidFill>
                  <a:srgbClr val="000000"/>
                </a:solidFill>
                <a:effectLst/>
                <a:uFillTx/>
                <a:latin typeface="Arial"/>
              </a:rPr>
              <a:t>Sixth Outline Level</a:t>
            </a:r>
            <a:endParaRPr lang="en-IN" sz="3200" b="0" u="none" strike="noStrike">
              <a:solidFill>
                <a:srgbClr val="000000"/>
              </a:solidFill>
              <a:effectLst/>
              <a:uFillTx/>
              <a:latin typeface="Arial"/>
            </a:endParaRPr>
          </a:p>
          <a:p>
            <a:pPr marL="3200400" lvl="6" indent="-355680" algn="l">
              <a:spcBef>
                <a:spcPts val="283"/>
              </a:spcBef>
              <a:buClr>
                <a:srgbClr val="000000"/>
              </a:buClr>
              <a:buSzPct val="45000"/>
              <a:buFont typeface="Wingdings" charset="2"/>
              <a:buChar char=""/>
            </a:pPr>
            <a:r>
              <a:rPr lang="en-IN" sz="3200" b="0" u="none" strike="noStrike">
                <a:solidFill>
                  <a:srgbClr val="000000"/>
                </a:solidFill>
                <a:effectLst/>
                <a:uFillTx/>
                <a:latin typeface="Arial"/>
              </a:rPr>
              <a:t>Seventh Outline Level</a:t>
            </a:r>
            <a:endParaRPr lang="en-IN" sz="3200" b="0" u="none" strike="noStrike">
              <a:solidFill>
                <a:srgbClr val="000000"/>
              </a:solidFill>
              <a:effectLst/>
              <a:uFillTx/>
              <a:latin typeface="Arial"/>
            </a:endParaRPr>
          </a:p>
        </p:txBody>
      </p:sp>
      <p:sp>
        <p:nvSpPr>
          <p:cNvPr id="40"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rmAutofit lnSpcReduction="9999"/>
          </a:bodyPr>
          <a:lstStyle>
            <a:lvl1pPr algn="l">
              <a:spcBef>
                <a:spcPts val="1417"/>
              </a:spcBef>
              <a:buClr>
                <a:srgbClr val="000000"/>
              </a:buClr>
              <a:buSzPct val="45000"/>
              <a:buFont typeface="Wingdings" charset="2"/>
              <a:buChar char=""/>
              <a:defRPr lang="en-IN" sz="16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16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16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16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16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16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16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IN" sz="1600" b="0" u="none" strike="noStrike">
                <a:solidFill>
                  <a:srgbClr val="000000"/>
                </a:solidFill>
                <a:effectLst/>
                <a:uFillTx/>
                <a:latin typeface="Arial"/>
              </a:rPr>
              <a:t>Click to edit the outline text format</a:t>
            </a:r>
            <a:endParaRPr lang="en-IN" sz="16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IN" sz="1600" b="0" u="none" strike="noStrike">
                <a:solidFill>
                  <a:srgbClr val="000000"/>
                </a:solidFill>
                <a:effectLst/>
                <a:uFillTx/>
                <a:latin typeface="Arial"/>
              </a:rPr>
              <a:t>Second Outline Level</a:t>
            </a:r>
            <a:endParaRPr lang="en-IN" sz="16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IN" sz="1600" b="0" u="none" strike="noStrike">
                <a:solidFill>
                  <a:srgbClr val="000000"/>
                </a:solidFill>
                <a:effectLst/>
                <a:uFillTx/>
                <a:latin typeface="Arial"/>
              </a:rPr>
              <a:t>Third Outline Level</a:t>
            </a:r>
            <a:endParaRPr lang="en-IN" sz="16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IN" sz="1600" b="0" u="none" strike="noStrike">
                <a:solidFill>
                  <a:srgbClr val="000000"/>
                </a:solidFill>
                <a:effectLst/>
                <a:uFillTx/>
                <a:latin typeface="Arial"/>
              </a:rPr>
              <a:t>Fourth Outline Level</a:t>
            </a:r>
            <a:endParaRPr lang="en-IN" sz="16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Fifth Outline Level</a:t>
            </a:r>
            <a:endParaRPr lang="en-IN" sz="16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Sixth Outline Level</a:t>
            </a:r>
            <a:endParaRPr lang="en-IN" sz="16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Seventh Outline Level</a:t>
            </a:r>
            <a:endParaRPr lang="en-IN" sz="1600" b="0" u="none" strike="noStrike">
              <a:solidFill>
                <a:srgbClr val="000000"/>
              </a:solidFill>
              <a:effectLst/>
              <a:uFillTx/>
              <a:latin typeface="Arial"/>
            </a:endParaRPr>
          </a:p>
        </p:txBody>
      </p:sp>
      <p:sp>
        <p:nvSpPr>
          <p:cNvPr id="41" name="PlaceHolder 4"/>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42" name="PlaceHolder 5"/>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3" name="PlaceHolder 6"/>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7A6CABFA-19B9-4362-9C62-03956D452F86}"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bg>
      <p:bgPr>
        <a:solidFill>
          <a:schemeClr val="lt1"/>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rmAutofit/>
          </a:bodyPr>
          <a:lstStyle>
            <a:lvl1pPr indent="0" algn="l">
              <a:buNone/>
              <a:defRPr lang="en-IN" sz="3200" b="0" u="none" strike="noStrike">
                <a:solidFill>
                  <a:srgbClr val="000000"/>
                </a:solidFill>
                <a:effectLst/>
                <a:uFillTx/>
                <a:latin typeface="Arial"/>
              </a:defRPr>
            </a:lvl1pPr>
          </a:lstStyle>
          <a:p>
            <a:pPr indent="0" algn="l">
              <a:buNone/>
            </a:pPr>
            <a:r>
              <a:rPr lang="en-IN" sz="3200" b="0" u="none" strike="noStrike">
                <a:solidFill>
                  <a:srgbClr val="000000"/>
                </a:solidFill>
                <a:effectLst/>
                <a:uFillTx/>
                <a:latin typeface="Arial"/>
              </a:rPr>
              <a:t>Click to edit the title text format</a:t>
            </a:r>
            <a:endParaRPr lang="en-IN" sz="3200" b="0" u="none" strike="noStrike">
              <a:solidFill>
                <a:srgbClr val="000000"/>
              </a:solidFill>
              <a:effectLst/>
              <a:uFillTx/>
              <a:latin typeface="Arial"/>
            </a:endParaRPr>
          </a:p>
        </p:txBody>
      </p:sp>
      <p:sp>
        <p:nvSpPr>
          <p:cNvPr id="45"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rmAutofit/>
          </a:bodyPr>
          <a:lstStyle>
            <a:lvl1pPr algn="l">
              <a:spcBef>
                <a:spcPts val="1417"/>
              </a:spcBef>
              <a:buClr>
                <a:srgbClr val="000000"/>
              </a:buClr>
              <a:buSzPct val="45000"/>
              <a:buFont typeface="Wingdings" charset="2"/>
              <a:buChar char=""/>
              <a:defRPr lang="en-IN"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IN" sz="1800" b="0" u="none" strike="noStrike">
                <a:solidFill>
                  <a:srgbClr val="000000"/>
                </a:solidFill>
                <a:effectLst/>
                <a:uFillTx/>
                <a:latin typeface="Arial"/>
              </a:rPr>
              <a:t>Click to edit the outline text format</a:t>
            </a:r>
            <a:endParaRPr lang="en-IN"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IN" sz="1800" b="0" u="none" strike="noStrike">
                <a:solidFill>
                  <a:srgbClr val="000000"/>
                </a:solidFill>
                <a:effectLst/>
                <a:uFillTx/>
                <a:latin typeface="Arial"/>
              </a:rPr>
              <a:t>Second Outline Level</a:t>
            </a:r>
            <a:endParaRPr lang="en-IN"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IN" sz="1800" b="0" u="none" strike="noStrike">
                <a:solidFill>
                  <a:srgbClr val="000000"/>
                </a:solidFill>
                <a:effectLst/>
                <a:uFillTx/>
                <a:latin typeface="Arial"/>
              </a:rPr>
              <a:t>Third Outline Level</a:t>
            </a:r>
            <a:endParaRPr lang="en-IN"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IN" sz="1800" b="0" u="none" strike="noStrike">
                <a:solidFill>
                  <a:srgbClr val="000000"/>
                </a:solidFill>
                <a:effectLst/>
                <a:uFillTx/>
                <a:latin typeface="Arial"/>
              </a:rPr>
              <a:t>Fourth Outline Level</a:t>
            </a:r>
            <a:endParaRPr lang="en-IN"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IN" sz="1800" b="0" u="none" strike="noStrike">
                <a:solidFill>
                  <a:srgbClr val="000000"/>
                </a:solidFill>
                <a:effectLst/>
                <a:uFillTx/>
                <a:latin typeface="Arial"/>
              </a:rPr>
              <a:t>Fifth Outline Level</a:t>
            </a:r>
            <a:endParaRPr lang="en-IN"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IN" sz="1800" b="0" u="none" strike="noStrike">
                <a:solidFill>
                  <a:srgbClr val="000000"/>
                </a:solidFill>
                <a:effectLst/>
                <a:uFillTx/>
                <a:latin typeface="Arial"/>
              </a:rPr>
              <a:t>Sixth Outline Level</a:t>
            </a:r>
            <a:endParaRPr lang="en-IN"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IN" sz="1800" b="0" u="none" strike="noStrike">
                <a:solidFill>
                  <a:srgbClr val="000000"/>
                </a:solidFill>
                <a:effectLst/>
                <a:uFillTx/>
                <a:latin typeface="Arial"/>
              </a:rPr>
              <a:t>Seventh Outline Level</a:t>
            </a:r>
            <a:endParaRPr lang="en-IN" sz="1800" b="0" u="none" strike="noStrike">
              <a:solidFill>
                <a:srgbClr val="000000"/>
              </a:solidFill>
              <a:effectLst/>
              <a:uFillTx/>
              <a:latin typeface="Arial"/>
            </a:endParaRPr>
          </a:p>
        </p:txBody>
      </p:sp>
      <p:sp>
        <p:nvSpPr>
          <p:cNvPr id="4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rmAutofit lnSpcReduction="9999"/>
          </a:bodyPr>
          <a:lstStyle>
            <a:lvl1pPr algn="l">
              <a:spcBef>
                <a:spcPts val="1417"/>
              </a:spcBef>
              <a:buClr>
                <a:srgbClr val="000000"/>
              </a:buClr>
              <a:buSzPct val="45000"/>
              <a:buFont typeface="Wingdings" charset="2"/>
              <a:buChar char=""/>
              <a:defRPr lang="en-IN" sz="16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16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16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16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16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16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16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IN" sz="1600" b="0" u="none" strike="noStrike">
                <a:solidFill>
                  <a:srgbClr val="000000"/>
                </a:solidFill>
                <a:effectLst/>
                <a:uFillTx/>
                <a:latin typeface="Arial"/>
              </a:rPr>
              <a:t>Click to edit the outline text format</a:t>
            </a:r>
            <a:endParaRPr lang="en-IN" sz="16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IN" sz="1600" b="0" u="none" strike="noStrike">
                <a:solidFill>
                  <a:srgbClr val="000000"/>
                </a:solidFill>
                <a:effectLst/>
                <a:uFillTx/>
                <a:latin typeface="Arial"/>
              </a:rPr>
              <a:t>Second Outline Level</a:t>
            </a:r>
            <a:endParaRPr lang="en-IN" sz="16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IN" sz="1600" b="0" u="none" strike="noStrike">
                <a:solidFill>
                  <a:srgbClr val="000000"/>
                </a:solidFill>
                <a:effectLst/>
                <a:uFillTx/>
                <a:latin typeface="Arial"/>
              </a:rPr>
              <a:t>Third Outline Level</a:t>
            </a:r>
            <a:endParaRPr lang="en-IN" sz="16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IN" sz="1600" b="0" u="none" strike="noStrike">
                <a:solidFill>
                  <a:srgbClr val="000000"/>
                </a:solidFill>
                <a:effectLst/>
                <a:uFillTx/>
                <a:latin typeface="Arial"/>
              </a:rPr>
              <a:t>Fourth Outline Level</a:t>
            </a:r>
            <a:endParaRPr lang="en-IN" sz="16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Fifth Outline Level</a:t>
            </a:r>
            <a:endParaRPr lang="en-IN" sz="16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Sixth Outline Level</a:t>
            </a:r>
            <a:endParaRPr lang="en-IN" sz="16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Seventh Outline Level</a:t>
            </a:r>
            <a:endParaRPr lang="en-IN" sz="1600" b="0" u="none" strike="noStrike">
              <a:solidFill>
                <a:srgbClr val="000000"/>
              </a:solidFill>
              <a:effectLst/>
              <a:uFillTx/>
              <a:latin typeface="Arial"/>
            </a:endParaRPr>
          </a:p>
        </p:txBody>
      </p:sp>
      <p:sp>
        <p:nvSpPr>
          <p:cNvPr id="47" name="PlaceHolder 4"/>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48" name="PlaceHolder 5"/>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9" name="PlaceHolder 6"/>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69D572E6-708A-493E-9758-202EFA2F1A1F}"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bg>
      <p:bgPr>
        <a:solidFill>
          <a:schemeClr val="lt1"/>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51" name="PlaceHolder 2"/>
          <p:cNvSpPr>
            <a:spLocks noGrp="1"/>
          </p:cNvSpPr>
          <p:nvPr>
            <p:ph type="body"/>
          </p:nvPr>
        </p:nvSpPr>
        <p:spPr>
          <a:xfrm rot="5400000">
            <a:off x="3920400" y="-1256400"/>
            <a:ext cx="4350960" cy="10515240"/>
          </a:xfrm>
          <a:prstGeom prst="rect">
            <a:avLst/>
          </a:prstGeom>
          <a:noFill/>
          <a:ln w="0">
            <a:noFill/>
          </a:ln>
        </p:spPr>
        <p:txBody>
          <a:bodyPr lIns="91440" tIns="45720" rIns="91440" bIns="45720" anchor="t">
            <a:normAutofit/>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52" name="PlaceHolder 3"/>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53" name="PlaceHolder 4"/>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4" name="PlaceHolder 5"/>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69B00409-5AD7-4B65-B9D3-4932FFEEC55C}"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rmAutofit/>
          </a:bodyPr>
          <a:p>
            <a:pPr indent="0" algn="ctr">
              <a:lnSpc>
                <a:spcPct val="90000"/>
              </a:lnSpc>
              <a:buNone/>
            </a:pPr>
            <a:r>
              <a:rPr lang="en-US" sz="6600" b="1" u="none" strike="noStrike">
                <a:solidFill>
                  <a:schemeClr val="dk1"/>
                </a:solidFill>
                <a:effectLst/>
                <a:uFillTx/>
                <a:latin typeface="Calibri"/>
                <a:ea typeface="Calibri"/>
              </a:rPr>
              <a:t>IBM University Engagement Project Submission</a:t>
            </a:r>
            <a:br>
              <a:rPr sz="6000"/>
            </a:br>
            <a:endParaRPr lang="en-IN" sz="6600" b="0" u="none" strike="noStrike">
              <a:solidFill>
                <a:srgbClr val="000000"/>
              </a:solidFill>
              <a:effectLst/>
              <a:uFillTx/>
              <a:latin typeface="Arial"/>
            </a:endParaRPr>
          </a:p>
        </p:txBody>
      </p:sp>
      <p:sp>
        <p:nvSpPr>
          <p:cNvPr id="56" name="PlaceHolder 2"/>
          <p:cNvSpPr>
            <a:spLocks noGrp="1"/>
          </p:cNvSpPr>
          <p:nvPr>
            <p:ph/>
          </p:nvPr>
        </p:nvSpPr>
        <p:spPr>
          <a:xfrm>
            <a:off x="1014840" y="3903840"/>
            <a:ext cx="10515240" cy="1499760"/>
          </a:xfrm>
          <a:prstGeom prst="rect">
            <a:avLst/>
          </a:prstGeom>
          <a:noFill/>
          <a:ln w="0">
            <a:noFill/>
          </a:ln>
        </p:spPr>
        <p:txBody>
          <a:bodyPr lIns="91440" tIns="45720" rIns="91440" bIns="45720" anchor="t">
            <a:noAutofit/>
          </a:bodyPr>
          <a:p>
            <a:pPr marL="457200" indent="-228600" algn="ctr">
              <a:lnSpc>
                <a:spcPct val="90000"/>
              </a:lnSpc>
              <a:spcBef>
                <a:spcPts val="1001"/>
              </a:spcBef>
              <a:buNone/>
              <a:tabLst>
                <a:tab pos="0" algn="l"/>
              </a:tabLst>
            </a:pPr>
            <a:r>
              <a:rPr lang="en-US" sz="2400" b="1" i="1" u="none" strike="noStrike">
                <a:solidFill>
                  <a:schemeClr val="dk1"/>
                </a:solidFill>
                <a:effectLst/>
                <a:uFillTx/>
                <a:latin typeface="Calibri"/>
                <a:ea typeface="Calibri"/>
              </a:rPr>
              <a:t>“Exploring the Power of Agentic AI with IBM Granite and LangFlow”</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Google Shape;92;p2"/>
          <p:cNvSpPr/>
          <p:nvPr/>
        </p:nvSpPr>
        <p:spPr>
          <a:xfrm>
            <a:off x="690480" y="4425480"/>
            <a:ext cx="10795320" cy="198720"/>
          </a:xfrm>
          <a:prstGeom prst="rect">
            <a:avLst/>
          </a:prstGeom>
          <a:noFill/>
          <a:ln w="0">
            <a:noFill/>
          </a:ln>
        </p:spPr>
        <p:style>
          <a:lnRef idx="0"/>
          <a:fillRef idx="0"/>
          <a:effectRef idx="0"/>
          <a:fontRef idx="minor"/>
        </p:style>
        <p:txBody>
          <a:bodyPr lIns="0" tIns="0" rIns="0" bIns="0" anchor="t">
            <a:noAutofit/>
          </a:bodyPr>
          <a:p>
            <a:endParaRPr lang="en-IN" sz="1500" b="0" u="none" strike="noStrike">
              <a:solidFill>
                <a:schemeClr val="dk1"/>
              </a:solidFill>
              <a:effectLst/>
              <a:uFillTx/>
              <a:latin typeface="Times New Roman"/>
            </a:endParaRPr>
          </a:p>
        </p:txBody>
      </p:sp>
      <p:sp>
        <p:nvSpPr>
          <p:cNvPr id="58" name="Google Shape;95;p2"/>
          <p:cNvSpPr/>
          <p:nvPr/>
        </p:nvSpPr>
        <p:spPr>
          <a:xfrm>
            <a:off x="1102320" y="1174680"/>
            <a:ext cx="7426080" cy="451080"/>
          </a:xfrm>
          <a:prstGeom prst="rect">
            <a:avLst/>
          </a:prstGeom>
          <a:noFill/>
          <a:ln w="0">
            <a:noFill/>
          </a:ln>
        </p:spPr>
        <p:style>
          <a:lnRef idx="0"/>
          <a:fillRef idx="0"/>
          <a:effectRef idx="0"/>
          <a:fontRef idx="minor"/>
        </p:style>
        <p:txBody>
          <a:bodyPr anchor="ctr">
            <a:noAutofit/>
          </a:bodyPr>
          <a:p>
            <a:endParaRPr lang="en-IN" sz="3200" b="1" u="none" strike="noStrike">
              <a:solidFill>
                <a:srgbClr val="002060"/>
              </a:solidFill>
              <a:effectLst/>
              <a:uFillTx/>
              <a:latin typeface="Times New Roman"/>
            </a:endParaRPr>
          </a:p>
        </p:txBody>
      </p:sp>
      <p:graphicFrame>
        <p:nvGraphicFramePr>
          <p:cNvPr id="59" name="Google Shape;96;p2"/>
          <p:cNvGraphicFramePr/>
          <p:nvPr/>
        </p:nvGraphicFramePr>
        <p:xfrm>
          <a:off x="1299240" y="2600280"/>
          <a:ext cx="9394560" cy="2166840"/>
        </p:xfrm>
        <a:graphic>
          <a:graphicData uri="http://schemas.openxmlformats.org/drawingml/2006/table">
            <a:tbl>
              <a:tblPr/>
              <a:tblGrid>
                <a:gridCol w="2064600"/>
                <a:gridCol w="2443320"/>
                <a:gridCol w="2443320"/>
                <a:gridCol w="2443320"/>
              </a:tblGrid>
              <a:tr h="973080">
                <a:tc>
                  <a:txBody>
                    <a:bodyPr anchor="ctr">
                      <a:noAutofit/>
                    </a:bodyPr>
                    <a:p>
                      <a:pPr algn="ctr">
                        <a:lnSpc>
                          <a:spcPct val="100000"/>
                        </a:lnSpc>
                        <a:tabLst>
                          <a:tab pos="0" algn="l"/>
                        </a:tabLst>
                      </a:pPr>
                      <a:r>
                        <a:rPr lang="en-US" sz="1800" b="0" u="none" strike="noStrike">
                          <a:solidFill>
                            <a:srgbClr val="000000"/>
                          </a:solidFill>
                          <a:effectLst/>
                          <a:uFillTx/>
                          <a:latin typeface="Arial"/>
                          <a:ea typeface="Arial"/>
                        </a:rPr>
                        <a:t>Student Name</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Arial"/>
                        </a:rPr>
                        <a:t>Recent Passport Photo</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Calibri"/>
                        </a:rPr>
                        <a:t>Email ID </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Calibri"/>
                        </a:rPr>
                        <a:t>Mobile number</a:t>
                      </a:r>
                      <a:endParaRPr lang="en-IN" sz="1800" b="0" u="none" strike="noStrike">
                        <a:solidFill>
                          <a:srgbClr val="FFFFFF"/>
                        </a:solidFill>
                        <a:effectLst/>
                        <a:uFillTx/>
                        <a:latin typeface="Arial"/>
                      </a:endParaRPr>
                    </a:p>
                    <a:p>
                      <a:pPr algn="ctr">
                        <a:lnSpc>
                          <a:spcPct val="100000"/>
                        </a:lnSpc>
                        <a:tabLst>
                          <a:tab pos="0" algn="l"/>
                        </a:tabLst>
                      </a:pPr>
                      <a:r>
                        <a:rPr lang="en-US" sz="1800" b="0" u="none" strike="noStrike">
                          <a:solidFill>
                            <a:srgbClr val="000000"/>
                          </a:solidFill>
                          <a:effectLst/>
                          <a:uFillTx/>
                          <a:latin typeface="Arial"/>
                          <a:ea typeface="Calibri"/>
                        </a:rPr>
                        <a:t>[WhatsApp] </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r>
              <a:tr h="1193760">
                <a:tc>
                  <a:txBody>
                    <a:bodyPr anchor="t">
                      <a:noAutofit/>
                    </a:bodyPr>
                    <a:p>
                      <a:pPr>
                        <a:lnSpc>
                          <a:spcPct val="100000"/>
                        </a:lnSpc>
                      </a:pPr>
                      <a:r>
                        <a:rPr lang="en-IN" sz="1400" b="0" u="none" strike="noStrike">
                          <a:solidFill>
                            <a:srgbClr val="000000"/>
                          </a:solidFill>
                          <a:effectLst/>
                          <a:uFillTx/>
                          <a:latin typeface="Arial"/>
                          <a:ea typeface="Arial"/>
                        </a:rPr>
                        <a:t>Savio Chacko Xavier</a:t>
                      </a:r>
                      <a:endParaRPr lang="en-IN"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endParaRPr lang="en-IN"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pPr>
                      <a:r>
                        <a:rPr lang="en-IN" sz="1400" b="0" u="none" strike="noStrike">
                          <a:solidFill>
                            <a:srgbClr val="000000"/>
                          </a:solidFill>
                          <a:effectLst/>
                          <a:uFillTx/>
                          <a:latin typeface="Arial"/>
                          <a:ea typeface="Arial"/>
                        </a:rPr>
                        <a:t>saviochackoxavier@gmail.com</a:t>
                      </a:r>
                      <a:endParaRPr lang="en-IN"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pPr>
                      <a:r>
                        <a:rPr lang="en-IN" sz="1400" b="0" u="none" strike="noStrike">
                          <a:solidFill>
                            <a:srgbClr val="000000"/>
                          </a:solidFill>
                          <a:effectLst/>
                          <a:uFillTx/>
                          <a:latin typeface="Arial"/>
                          <a:ea typeface="Arial"/>
                        </a:rPr>
                        <a:t>6235378348</a:t>
                      </a:r>
                      <a:endParaRPr lang="en-IN"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r>
            </a:tbl>
          </a:graphicData>
        </a:graphic>
      </p:graphicFrame>
      <p:pic>
        <p:nvPicPr>
          <p:cNvPr id="60" name="Google Shape;98;p2"/>
          <p:cNvPicPr/>
          <p:nvPr/>
        </p:nvPicPr>
        <p:blipFill>
          <a:blip r:embed="rId1"/>
          <a:stretch/>
        </p:blipFill>
        <p:spPr>
          <a:xfrm>
            <a:off x="4052880" y="3738240"/>
            <a:ext cx="762120" cy="801360"/>
          </a:xfrm>
          <a:prstGeom prst="rect">
            <a:avLst/>
          </a:prstGeom>
          <a:noFill/>
          <a:ln w="0">
            <a:noFill/>
          </a:ln>
        </p:spPr>
      </p:pic>
      <p:sp>
        <p:nvSpPr>
          <p:cNvPr id="61" name="TextBox 3"/>
          <p:cNvSpPr/>
          <p:nvPr/>
        </p:nvSpPr>
        <p:spPr>
          <a:xfrm>
            <a:off x="1206000" y="1460880"/>
            <a:ext cx="1027980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IN" sz="1400" b="0" u="none" strike="noStrike">
                <a:solidFill>
                  <a:srgbClr val="000000"/>
                </a:solidFill>
                <a:effectLst/>
                <a:uFillTx/>
                <a:latin typeface="Arial"/>
                <a:ea typeface="Arial"/>
              </a:rPr>
              <a:t>Domain of Project – Healthcare / Nutrition &amp; Lifestyle AI</a:t>
            </a:r>
            <a:endParaRPr lang="en-IN" sz="1400" b="0" u="none" strike="noStrike">
              <a:solidFill>
                <a:srgbClr val="000000"/>
              </a:solidFill>
              <a:effectLst/>
              <a:uFillTx/>
              <a:latin typeface="Arial"/>
            </a:endParaRPr>
          </a:p>
        </p:txBody>
      </p:sp>
      <p:sp>
        <p:nvSpPr>
          <p:cNvPr id="62" name="TextBox 6"/>
          <p:cNvSpPr/>
          <p:nvPr/>
        </p:nvSpPr>
        <p:spPr>
          <a:xfrm>
            <a:off x="1206000" y="551880"/>
            <a:ext cx="958068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IN" sz="1400" b="0" u="none" strike="noStrike">
                <a:solidFill>
                  <a:srgbClr val="000000"/>
                </a:solidFill>
                <a:effectLst/>
                <a:uFillTx/>
                <a:latin typeface="Arial"/>
                <a:ea typeface="Arial"/>
              </a:rPr>
              <a:t>Project Title – SmartRecipe AI: RAG-Based Recipe Preparation Agent</a:t>
            </a:r>
            <a:endParaRPr lang="en-IN" sz="1400" b="0" u="none" strike="noStrike">
              <a:solidFill>
                <a:srgbClr val="000000"/>
              </a:solidFill>
              <a:effectLst/>
              <a:uFillTx/>
              <a:latin typeface="Arial"/>
            </a:endParaRPr>
          </a:p>
        </p:txBody>
      </p:sp>
      <p:sp>
        <p:nvSpPr>
          <p:cNvPr id="63" name="TextBox 2"/>
          <p:cNvSpPr/>
          <p:nvPr/>
        </p:nvSpPr>
        <p:spPr>
          <a:xfrm>
            <a:off x="1211040" y="5210640"/>
            <a:ext cx="6456240" cy="163080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lang="en-IN" sz="1400" b="0" u="none" strike="noStrike">
                <a:solidFill>
                  <a:srgbClr val="000000"/>
                </a:solidFill>
                <a:effectLst/>
                <a:uFillTx/>
                <a:latin typeface="Arial"/>
                <a:ea typeface="Arial"/>
              </a:rPr>
              <a:t>Recommended font style and size:</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Font Style: Arial</a:t>
            </a: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Font Size (Heading): 28</a:t>
            </a: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Font Size (Content): 20</a:t>
            </a:r>
            <a:endParaRPr lang="en-IN" sz="1400" b="0" u="none" strike="noStrike">
              <a:solidFill>
                <a:srgbClr val="000000"/>
              </a:solidFill>
              <a:effectLst/>
              <a:uFillTx/>
              <a:latin typeface="Arial"/>
            </a:endParaRPr>
          </a:p>
        </p:txBody>
      </p:sp>
      <p:pic>
        <p:nvPicPr>
          <p:cNvPr id="64" name="Picture 98" descr="image12.jpeg"/>
          <p:cNvPicPr/>
          <p:nvPr/>
        </p:nvPicPr>
        <p:blipFill>
          <a:blip r:embed="rId2"/>
          <a:stretch/>
        </p:blipFill>
        <p:spPr>
          <a:xfrm>
            <a:off x="4041720" y="3578400"/>
            <a:ext cx="959760" cy="118836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TextBox 1"/>
          <p:cNvSpPr/>
          <p:nvPr/>
        </p:nvSpPr>
        <p:spPr>
          <a:xfrm>
            <a:off x="576000" y="1234440"/>
            <a:ext cx="10606680" cy="50472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IN" sz="1400" b="0" u="none" strike="noStrike">
                <a:solidFill>
                  <a:srgbClr val="000000"/>
                </a:solidFill>
                <a:effectLst/>
                <a:uFillTx/>
                <a:latin typeface="Arial"/>
                <a:ea typeface="Arial"/>
              </a:rPr>
              <a:t>Problem Statement : AICTE Problem Statement No. 16 – Recipe Preparation Agent</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The Challenge</a:t>
            </a: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Households routinely discard usable food because people do not know what to cook with ingredients already available. Generic recipe search demands exact matches, overlooks dietary preferences, and offers little help when an ingredient is missing.</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The Objective</a:t>
            </a: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Build SmartRecipe AI, an AI-powered Recipe Preparation Agent that helps users prepare practical meals from available ingredients using RAG, IBM Granite, and Langflow. The system supports dietary preferences, substitutions, serving-size adjustment, and clear step-by-step guidance.</a:t>
            </a:r>
            <a:endParaRPr lang="en-IN" sz="1400" b="0" u="none" strike="noStrike">
              <a:solidFill>
                <a:srgbClr val="000000"/>
              </a:solidFill>
              <a:effectLst/>
              <a:uFillTx/>
              <a:latin typeface="Arial"/>
            </a:endParaRPr>
          </a:p>
        </p:txBody>
      </p:sp>
      <p:sp>
        <p:nvSpPr>
          <p:cNvPr id="66" name="TextBox 2"/>
          <p:cNvSpPr/>
          <p:nvPr/>
        </p:nvSpPr>
        <p:spPr>
          <a:xfrm>
            <a:off x="576000" y="704160"/>
            <a:ext cx="721440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Problem Statement -</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TextBox 1"/>
          <p:cNvSpPr/>
          <p:nvPr/>
        </p:nvSpPr>
        <p:spPr>
          <a:xfrm>
            <a:off x="576000" y="1234440"/>
            <a:ext cx="10606680" cy="52624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IN" sz="1400" b="0" u="none" strike="noStrike">
                <a:solidFill>
                  <a:srgbClr val="000000"/>
                </a:solidFill>
                <a:effectLst/>
                <a:uFillTx/>
                <a:latin typeface="Arial"/>
                <a:ea typeface="Arial"/>
              </a:rPr>
              <a:t>Proposed Solution: SmartRecipe AI – RAG-Based Recipe Preparation Agent</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SmartRecipe AI is built using Langflow, IBM watsonx.ai, and IBM Granite models (ibm/granite-3-8b-instruct). A Retrieval-Augmented Generation pipeline queries a custom recipes.csv knowledge base and passes relevant recipe context to Granite.</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The agent generates a practical, personalized recipe using the user’s available ingredients. It includes automated serving-size scaling, vegetarian/vegan preference handling, missing-ingredient substitutions, and concise cooking instructions.</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The local Python/Pandas reference implementation validates retrieval logic, while scale_recipe.py demonstrates serving-size adjustment.</a:t>
            </a:r>
            <a:endParaRPr lang="en-IN" sz="1400" b="0" u="none" strike="noStrike">
              <a:solidFill>
                <a:srgbClr val="000000"/>
              </a:solidFill>
              <a:effectLst/>
              <a:uFillTx/>
              <a:latin typeface="Arial"/>
            </a:endParaRPr>
          </a:p>
        </p:txBody>
      </p:sp>
      <p:sp>
        <p:nvSpPr>
          <p:cNvPr id="68" name="TextBox 2"/>
          <p:cNvSpPr/>
          <p:nvPr/>
        </p:nvSpPr>
        <p:spPr>
          <a:xfrm>
            <a:off x="576000" y="704160"/>
            <a:ext cx="721440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Proposed Solution -</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TextBox 1"/>
          <p:cNvSpPr/>
          <p:nvPr/>
        </p:nvSpPr>
        <p:spPr>
          <a:xfrm>
            <a:off x="777240" y="484560"/>
            <a:ext cx="7122960" cy="461160"/>
          </a:xfrm>
          <a:prstGeom prst="rect">
            <a:avLst/>
          </a:prstGeom>
          <a:noFill/>
          <a:ln w="0">
            <a:noFill/>
          </a:ln>
        </p:spPr>
        <p:style>
          <a:lnRef idx="0"/>
          <a:fillRef idx="0"/>
          <a:effectRef idx="0"/>
          <a:fontRef idx="minor"/>
        </p:style>
        <p:txBody>
          <a:bodyPr anchor="t">
            <a:spAutoFit/>
          </a:bodyPr>
          <a:p>
            <a:pPr>
              <a:lnSpc>
                <a:spcPct val="100000"/>
              </a:lnSpc>
            </a:pPr>
            <a:r>
              <a:rPr lang="en-US" sz="2400" b="1" u="none" strike="noStrike">
                <a:solidFill>
                  <a:srgbClr val="000000"/>
                </a:solidFill>
                <a:effectLst/>
                <a:uFillTx/>
                <a:latin typeface="Arial"/>
                <a:ea typeface="Arial"/>
              </a:rPr>
              <a:t>Technology Used</a:t>
            </a:r>
            <a:endParaRPr lang="en-IN" sz="2400" b="0" u="none" strike="noStrike">
              <a:solidFill>
                <a:srgbClr val="000000"/>
              </a:solidFill>
              <a:effectLst/>
              <a:uFillTx/>
              <a:latin typeface="Arial"/>
            </a:endParaRPr>
          </a:p>
        </p:txBody>
      </p:sp>
      <p:sp>
        <p:nvSpPr>
          <p:cNvPr id="70" name="TextBox 2"/>
          <p:cNvSpPr/>
          <p:nvPr/>
        </p:nvSpPr>
        <p:spPr>
          <a:xfrm>
            <a:off x="777240" y="1207080"/>
            <a:ext cx="10515240" cy="5508720"/>
          </a:xfrm>
          <a:prstGeom prst="rect">
            <a:avLst/>
          </a:prstGeom>
          <a:noFill/>
          <a:ln w="0">
            <a:noFill/>
          </a:ln>
        </p:spPr>
        <p:style>
          <a:lnRef idx="0"/>
          <a:fillRef idx="0"/>
          <a:effectRef idx="0"/>
          <a:fontRef idx="minor"/>
        </p:style>
        <p:txBody>
          <a:bodyPr lIns="90000" tIns="45000" rIns="90000" bIns="45000" anchor="t">
            <a:spAutoFit/>
          </a:bodyPr>
          <a:p>
            <a:pPr marL="285840" indent="-285840">
              <a:lnSpc>
                <a:spcPct val="100000"/>
              </a:lnSpc>
              <a:buClr>
                <a:srgbClr val="000000"/>
              </a:buClr>
              <a:buFont typeface="Arial"/>
              <a:buChar char="•"/>
            </a:pPr>
            <a:r>
              <a:rPr lang="en-IN" sz="1400" b="0" u="none" strike="noStrike">
                <a:solidFill>
                  <a:srgbClr val="000000"/>
                </a:solidFill>
                <a:effectLst/>
                <a:uFillTx/>
                <a:latin typeface="Arial"/>
                <a:ea typeface="Arial"/>
              </a:rPr>
              <a:t>Langflow platform – visual design and orchestration of the agent workflow.</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IBM Granite Model – ibm/granite-3-8b-instruct via IBM watsonx.ai for reasoning, recipe pairing, and personalization.</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IBM Cloud / watsonx.ai – project infrastructure and secure model execution.</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Custom RAG Knowledge Base – structured recipes.csv repository used for grounded retrieval.</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Python / Pandas – local retrieval reference implementation and serving-size scaling utility.</a:t>
            </a: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Google Shape;135;p5"/>
          <p:cNvSpPr/>
          <p:nvPr/>
        </p:nvSpPr>
        <p:spPr>
          <a:xfrm>
            <a:off x="537480" y="323280"/>
            <a:ext cx="5908680" cy="4482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2400" b="1" u="none" strike="noStrike">
                <a:solidFill>
                  <a:srgbClr val="000000"/>
                </a:solidFill>
                <a:effectLst/>
                <a:uFillTx/>
                <a:latin typeface="Arial"/>
                <a:ea typeface="Arial"/>
              </a:rPr>
              <a:t>Langflow</a:t>
            </a:r>
            <a:r>
              <a:rPr lang="en-US" sz="3500" b="1" u="none" strike="noStrike">
                <a:solidFill>
                  <a:srgbClr val="051D3A"/>
                </a:solidFill>
                <a:effectLst/>
                <a:uFillTx/>
                <a:latin typeface="Times New Roman"/>
                <a:ea typeface="Times New Roman"/>
              </a:rPr>
              <a:t> </a:t>
            </a:r>
            <a:r>
              <a:rPr lang="en-US" sz="2400" b="1" u="none" strike="noStrike">
                <a:solidFill>
                  <a:srgbClr val="000000"/>
                </a:solidFill>
                <a:effectLst/>
                <a:uFillTx/>
                <a:latin typeface="Arial"/>
                <a:ea typeface="Arial"/>
              </a:rPr>
              <a:t>component Used -</a:t>
            </a:r>
            <a:endParaRPr lang="en-IN" sz="2400" b="0" u="none" strike="noStrike">
              <a:solidFill>
                <a:srgbClr val="000000"/>
              </a:solidFill>
              <a:effectLst/>
              <a:uFillTx/>
              <a:latin typeface="Arial"/>
            </a:endParaRPr>
          </a:p>
        </p:txBody>
      </p:sp>
      <p:sp>
        <p:nvSpPr>
          <p:cNvPr id="72" name="Google Shape;148;p5"/>
          <p:cNvSpPr/>
          <p:nvPr/>
        </p:nvSpPr>
        <p:spPr>
          <a:xfrm>
            <a:off x="2264400" y="6784560"/>
            <a:ext cx="2140560" cy="223920"/>
          </a:xfrm>
          <a:prstGeom prst="rect">
            <a:avLst/>
          </a:prstGeom>
          <a:noFill/>
          <a:ln w="0">
            <a:noFill/>
          </a:ln>
        </p:spPr>
        <p:style>
          <a:lnRef idx="0"/>
          <a:fillRef idx="0"/>
          <a:effectRef idx="0"/>
          <a:fontRef idx="minor"/>
        </p:style>
        <p:txBody>
          <a:bodyPr lIns="0" tIns="0" rIns="0" bIns="0" anchor="t">
            <a:noAutofit/>
          </a:bodyPr>
          <a:p>
            <a:pPr algn="ctr">
              <a:lnSpc>
                <a:spcPct val="109000"/>
              </a:lnSpc>
              <a:tabLst>
                <a:tab pos="0" algn="l"/>
              </a:tabLst>
            </a:pPr>
            <a:r>
              <a:rPr lang="en-IN" sz="1400" b="0" u="none" strike="noStrike">
                <a:solidFill>
                  <a:srgbClr val="000000"/>
                </a:solidFill>
                <a:effectLst/>
                <a:uFillTx/>
                <a:latin typeface="Arial"/>
                <a:ea typeface="Arial"/>
              </a:rPr>
              <a:t>1) Chat Input – Users enter ingredients, dietary preferences, and meal requirements.</a:t>
            </a:r>
            <a:endParaRPr lang="en-IN" sz="1400" b="0" u="none" strike="noStrike">
              <a:solidFill>
                <a:srgbClr val="000000"/>
              </a:solidFill>
              <a:effectLst/>
              <a:uFillTx/>
              <a:latin typeface="Arial"/>
            </a:endParaRPr>
          </a:p>
          <a:p>
            <a:pPr>
              <a:lnSpc>
                <a:spcPct val="100000"/>
              </a:lnSpc>
              <a:tabLst>
                <a:tab pos="0" algn="l"/>
              </a:tabLst>
            </a:pPr>
            <a:endParaRPr lang="en-IN" sz="1400" b="0" u="none" strike="noStrike">
              <a:solidFill>
                <a:srgbClr val="000000"/>
              </a:solidFill>
              <a:effectLst/>
              <a:uFillTx/>
              <a:latin typeface="Arial"/>
            </a:endParaRPr>
          </a:p>
          <a:p>
            <a:pPr>
              <a:lnSpc>
                <a:spcPct val="100000"/>
              </a:lnSpc>
              <a:tabLst>
                <a:tab pos="0" algn="l"/>
              </a:tabLst>
            </a:pPr>
            <a:r>
              <a:rPr lang="en-IN" sz="1400" b="0" u="none" strike="noStrike">
                <a:solidFill>
                  <a:srgbClr val="000000"/>
                </a:solidFill>
                <a:effectLst/>
                <a:uFillTx/>
                <a:latin typeface="Arial"/>
                <a:ea typeface="Arial"/>
              </a:rPr>
              <a:t>2) Prompt Template – Combines system instructions, user request, and retrieved recipe context.</a:t>
            </a:r>
            <a:endParaRPr lang="en-IN" sz="1400" b="0" u="none" strike="noStrike">
              <a:solidFill>
                <a:srgbClr val="000000"/>
              </a:solidFill>
              <a:effectLst/>
              <a:uFillTx/>
              <a:latin typeface="Arial"/>
            </a:endParaRPr>
          </a:p>
          <a:p>
            <a:pPr>
              <a:lnSpc>
                <a:spcPct val="100000"/>
              </a:lnSpc>
              <a:tabLst>
                <a:tab pos="0" algn="l"/>
              </a:tabLst>
            </a:pPr>
            <a:endParaRPr lang="en-IN" sz="1400" b="0" u="none" strike="noStrike">
              <a:solidFill>
                <a:srgbClr val="000000"/>
              </a:solidFill>
              <a:effectLst/>
              <a:uFillTx/>
              <a:latin typeface="Arial"/>
            </a:endParaRPr>
          </a:p>
          <a:p>
            <a:pPr>
              <a:lnSpc>
                <a:spcPct val="100000"/>
              </a:lnSpc>
              <a:tabLst>
                <a:tab pos="0" algn="l"/>
              </a:tabLst>
            </a:pPr>
            <a:r>
              <a:rPr lang="en-IN" sz="1400" b="0" u="none" strike="noStrike">
                <a:solidFill>
                  <a:srgbClr val="000000"/>
                </a:solidFill>
                <a:effectLst/>
                <a:uFillTx/>
                <a:latin typeface="Arial"/>
                <a:ea typeface="Arial"/>
              </a:rPr>
              <a:t>3) IBM watsonx.ai Model Component – Configured with ibm/granite-3-8b-instruct.</a:t>
            </a:r>
            <a:endParaRPr lang="en-IN" sz="1400" b="0" u="none" strike="noStrike">
              <a:solidFill>
                <a:srgbClr val="000000"/>
              </a:solidFill>
              <a:effectLst/>
              <a:uFillTx/>
              <a:latin typeface="Arial"/>
            </a:endParaRPr>
          </a:p>
          <a:p>
            <a:pPr>
              <a:lnSpc>
                <a:spcPct val="100000"/>
              </a:lnSpc>
              <a:tabLst>
                <a:tab pos="0" algn="l"/>
              </a:tabLst>
            </a:pPr>
            <a:endParaRPr lang="en-IN" sz="1400" b="0" u="none" strike="noStrike">
              <a:solidFill>
                <a:srgbClr val="000000"/>
              </a:solidFill>
              <a:effectLst/>
              <a:uFillTx/>
              <a:latin typeface="Arial"/>
            </a:endParaRPr>
          </a:p>
          <a:p>
            <a:pPr>
              <a:lnSpc>
                <a:spcPct val="100000"/>
              </a:lnSpc>
              <a:tabLst>
                <a:tab pos="0" algn="l"/>
              </a:tabLst>
            </a:pPr>
            <a:r>
              <a:rPr lang="en-IN" sz="1400" b="0" u="none" strike="noStrike">
                <a:solidFill>
                  <a:srgbClr val="000000"/>
                </a:solidFill>
                <a:effectLst/>
                <a:uFillTx/>
                <a:latin typeface="Arial"/>
                <a:ea typeface="Arial"/>
              </a:rPr>
              <a:t>4) Chat Output – Displays the structured, step-by-step recipe and substitutions.</a:t>
            </a:r>
            <a:endParaRPr lang="en-IN" sz="1400" b="0" u="none" strike="noStrike">
              <a:solidFill>
                <a:srgbClr val="000000"/>
              </a:solidFill>
              <a:effectLst/>
              <a:uFillTx/>
              <a:latin typeface="Arial"/>
            </a:endParaRPr>
          </a:p>
          <a:p>
            <a:pPr>
              <a:lnSpc>
                <a:spcPct val="100000"/>
              </a:lnSpc>
              <a:tabLst>
                <a:tab pos="0" algn="l"/>
              </a:tabLst>
            </a:pPr>
            <a:endParaRPr lang="en-IN" sz="1400" b="0" u="none" strike="noStrike">
              <a:solidFill>
                <a:srgbClr val="000000"/>
              </a:solidFill>
              <a:effectLst/>
              <a:uFillTx/>
              <a:latin typeface="Arial"/>
            </a:endParaRPr>
          </a:p>
          <a:p>
            <a:pPr>
              <a:lnSpc>
                <a:spcPct val="100000"/>
              </a:lnSpc>
              <a:tabLst>
                <a:tab pos="0" algn="l"/>
              </a:tabLst>
            </a:pPr>
            <a:r>
              <a:rPr lang="en-IN" sz="1400" b="0" u="none" strike="noStrike">
                <a:solidFill>
                  <a:srgbClr val="000000"/>
                </a:solidFill>
                <a:effectLst/>
                <a:uFillTx/>
                <a:latin typeface="Arial"/>
                <a:ea typeface="Arial"/>
              </a:rPr>
              <a:t>5) File / Data Component – Ingests and queries the custom recipe CSV knowledge base.</a:t>
            </a:r>
            <a:endParaRPr lang="en-IN" sz="1400" b="0" u="none" strike="noStrike">
              <a:solidFill>
                <a:srgbClr val="000000"/>
              </a:solidFill>
              <a:effectLst/>
              <a:uFillTx/>
              <a:latin typeface="Arial"/>
            </a:endParaRPr>
          </a:p>
        </p:txBody>
      </p:sp>
      <p:sp>
        <p:nvSpPr>
          <p:cNvPr id="73" name="Google Shape;149;p5"/>
          <p:cNvSpPr/>
          <p:nvPr/>
        </p:nvSpPr>
        <p:spPr>
          <a:xfrm>
            <a:off x="1782720" y="7100280"/>
            <a:ext cx="3103920" cy="7315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4" name="Google Shape;150;p5"/>
          <p:cNvSpPr/>
          <p:nvPr/>
        </p:nvSpPr>
        <p:spPr>
          <a:xfrm>
            <a:off x="5732280" y="6784560"/>
            <a:ext cx="1793520" cy="2239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5" name="Google Shape;151;p5"/>
          <p:cNvSpPr/>
          <p:nvPr/>
        </p:nvSpPr>
        <p:spPr>
          <a:xfrm>
            <a:off x="5077440" y="7100280"/>
            <a:ext cx="3103920" cy="7315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6" name="Google Shape;152;p5"/>
          <p:cNvSpPr/>
          <p:nvPr/>
        </p:nvSpPr>
        <p:spPr>
          <a:xfrm>
            <a:off x="9027000" y="6784560"/>
            <a:ext cx="1793520" cy="2239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7" name="Google Shape;153;p5"/>
          <p:cNvSpPr/>
          <p:nvPr/>
        </p:nvSpPr>
        <p:spPr>
          <a:xfrm>
            <a:off x="8372160" y="7100280"/>
            <a:ext cx="3103920" cy="7315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8" name="TextBox 1"/>
          <p:cNvSpPr/>
          <p:nvPr/>
        </p:nvSpPr>
        <p:spPr>
          <a:xfrm>
            <a:off x="474840" y="863280"/>
            <a:ext cx="8823600" cy="52624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1400" b="1" u="none" strike="noStrike">
                <a:solidFill>
                  <a:srgbClr val="000000"/>
                </a:solidFill>
                <a:effectLst/>
                <a:uFillTx/>
                <a:latin typeface="Arial"/>
                <a:ea typeface="Arial"/>
              </a:rPr>
              <a:t>1) Chat Input</a:t>
            </a:r>
            <a:r>
              <a:rPr lang="en-US" sz="1400" b="0" u="none" strike="noStrike">
                <a:solidFill>
                  <a:srgbClr val="000000"/>
                </a:solidFill>
                <a:effectLst/>
                <a:uFillTx/>
                <a:latin typeface="Arial"/>
                <a:ea typeface="Arial"/>
              </a:rPr>
              <a:t> – Where the user types available ingredients and preferences (e.g. "rice, tomato, onion, no dairy").</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2) Prompt Template</a:t>
            </a:r>
            <a:r>
              <a:rPr lang="en-US" sz="1400" b="0" u="none" strike="noStrike">
                <a:solidFill>
                  <a:srgbClr val="000000"/>
                </a:solidFill>
                <a:effectLst/>
                <a:uFillTx/>
                <a:latin typeface="Arial"/>
                <a:ea typeface="Arial"/>
              </a:rPr>
              <a:t> – Combines the user's ingredients with the retrieved recipe context and generation instructions.</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3) File / Loader component</a:t>
            </a:r>
            <a:r>
              <a:rPr lang="en-US" sz="1400" b="0" u="none" strike="noStrike">
                <a:solidFill>
                  <a:srgbClr val="000000"/>
                </a:solidFill>
                <a:effectLst/>
                <a:uFillTx/>
                <a:latin typeface="Arial"/>
                <a:ea typeface="Arial"/>
              </a:rPr>
              <a:t> – Loads the curated recipes.csv knowledge base used for retrieval.</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4) IBM watsonx.ai Model component</a:t>
            </a:r>
            <a:r>
              <a:rPr lang="en-US" sz="1400" b="0" u="none" strike="noStrike">
                <a:solidFill>
                  <a:srgbClr val="000000"/>
                </a:solidFill>
                <a:effectLst/>
                <a:uFillTx/>
                <a:latin typeface="Arial"/>
                <a:ea typeface="Arial"/>
              </a:rPr>
              <a:t> (Granite-3-8B-Instruct / Granite-4.0-8B-Instruct) – Generates the final recipe, substitutions, and tips.</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5) Chat Output</a:t>
            </a:r>
            <a:r>
              <a:rPr lang="en-US" sz="1400" b="0" u="none" strike="noStrike">
                <a:solidFill>
                  <a:srgbClr val="000000"/>
                </a:solidFill>
                <a:effectLst/>
                <a:uFillTx/>
                <a:latin typeface="Arial"/>
                <a:ea typeface="Arial"/>
              </a:rPr>
              <a:t> – Displays the AI-generated, step-by-step recipe to the user.</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6) If-Else / Conditional component (optional)</a:t>
            </a:r>
            <a:r>
              <a:rPr lang="en-US" sz="1400" b="0" u="none" strike="noStrike">
                <a:solidFill>
                  <a:srgbClr val="000000"/>
                </a:solidFill>
                <a:effectLst/>
                <a:uFillTx/>
                <a:latin typeface="Arial"/>
                <a:ea typeface="Arial"/>
              </a:rPr>
              <a:t> – Flags when an essential ingredient is missing and asks a quick follow-up question.</a:t>
            </a: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Google Shape;135;p5"/>
          <p:cNvSpPr/>
          <p:nvPr/>
        </p:nvSpPr>
        <p:spPr>
          <a:xfrm>
            <a:off x="537480" y="323280"/>
            <a:ext cx="5908680" cy="4482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2400" b="1" u="none" strike="noStrike">
                <a:solidFill>
                  <a:srgbClr val="000000"/>
                </a:solidFill>
                <a:effectLst/>
                <a:uFillTx/>
                <a:latin typeface="Arial"/>
                <a:ea typeface="Arial"/>
              </a:rPr>
              <a:t>Langflow</a:t>
            </a:r>
            <a:r>
              <a:rPr lang="en-US" sz="3500" b="1" u="none" strike="noStrike">
                <a:solidFill>
                  <a:srgbClr val="051D3A"/>
                </a:solidFill>
                <a:effectLst/>
                <a:uFillTx/>
                <a:latin typeface="Times New Roman"/>
                <a:ea typeface="Times New Roman"/>
              </a:rPr>
              <a:t> </a:t>
            </a:r>
            <a:r>
              <a:rPr lang="en-US" sz="2400" b="1" u="none" strike="noStrike">
                <a:solidFill>
                  <a:srgbClr val="000000"/>
                </a:solidFill>
                <a:effectLst/>
                <a:uFillTx/>
                <a:latin typeface="Arial"/>
                <a:ea typeface="Arial"/>
              </a:rPr>
              <a:t>workflow -</a:t>
            </a:r>
            <a:endParaRPr lang="en-IN" sz="2400" b="0" u="none" strike="noStrike">
              <a:solidFill>
                <a:srgbClr val="000000"/>
              </a:solidFill>
              <a:effectLst/>
              <a:uFillTx/>
              <a:latin typeface="Arial"/>
            </a:endParaRPr>
          </a:p>
        </p:txBody>
      </p:sp>
      <p:pic>
        <p:nvPicPr>
          <p:cNvPr id="80" name="Picture 2" descr="image.png"/>
          <p:cNvPicPr/>
          <p:nvPr/>
        </p:nvPicPr>
        <p:blipFill>
          <a:blip r:embed="rId1"/>
          <a:stretch/>
        </p:blipFill>
        <p:spPr>
          <a:xfrm>
            <a:off x="777240" y="1024200"/>
            <a:ext cx="10881000" cy="6120360"/>
          </a:xfrm>
          <a:prstGeom prst="rect">
            <a:avLst/>
          </a:prstGeom>
          <a:noFill/>
          <a:ln w="0">
            <a:noFill/>
          </a:ln>
        </p:spPr>
      </p:pic>
      <p:sp>
        <p:nvSpPr>
          <p:cNvPr id="81" name="TextBox 3"/>
          <p:cNvSpPr/>
          <p:nvPr/>
        </p:nvSpPr>
        <p:spPr>
          <a:xfrm>
            <a:off x="777240" y="5870520"/>
            <a:ext cx="10881000" cy="255600"/>
          </a:xfrm>
          <a:prstGeom prst="rect">
            <a:avLst/>
          </a:prstGeom>
          <a:noFill/>
          <a:ln w="0">
            <a:noFill/>
          </a:ln>
        </p:spPr>
        <p:style>
          <a:lnRef idx="0"/>
          <a:fillRef idx="0"/>
          <a:effectRef idx="0"/>
          <a:fontRef idx="minor"/>
        </p:style>
        <p:txBody>
          <a:bodyPr wrap="none" lIns="90000" tIns="45000" rIns="90000" bIns="45000" anchor="t">
            <a:spAutoFit/>
          </a:bodyPr>
          <a:p>
            <a:pPr algn="ctr">
              <a:lnSpc>
                <a:spcPct val="100000"/>
              </a:lnSpc>
            </a:pPr>
            <a:r>
              <a:rPr lang="en-IN" sz="1200" b="1" u="none" strike="noStrike">
                <a:solidFill>
                  <a:srgbClr val="1F4E79"/>
                </a:solidFill>
                <a:effectLst/>
                <a:uFillTx/>
                <a:latin typeface="Arial"/>
                <a:ea typeface="Arial"/>
              </a:rPr>
              <a:t>Langflow canvas execution</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Google Shape;135;p5"/>
          <p:cNvSpPr/>
          <p:nvPr/>
        </p:nvSpPr>
        <p:spPr>
          <a:xfrm>
            <a:off x="537480" y="323280"/>
            <a:ext cx="5908680" cy="4482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400" b="1" u="none" strike="noStrike">
                <a:solidFill>
                  <a:schemeClr val="dk1"/>
                </a:solidFill>
                <a:effectLst/>
                <a:uFillTx/>
                <a:latin typeface="Calibri"/>
                <a:ea typeface="Calibri"/>
              </a:rPr>
              <a:t>Architecture blueprint</a:t>
            </a:r>
            <a:endParaRPr lang="en-IN" sz="2400" b="0" u="none" strike="noStrike">
              <a:solidFill>
                <a:srgbClr val="000000"/>
              </a:solidFill>
              <a:effectLst/>
              <a:uFillTx/>
              <a:latin typeface="Arial"/>
            </a:endParaRPr>
          </a:p>
        </p:txBody>
      </p:sp>
      <p:pic>
        <p:nvPicPr>
          <p:cNvPr id="83" name="Picture 6" descr="image.png"/>
          <p:cNvPicPr/>
          <p:nvPr/>
        </p:nvPicPr>
        <p:blipFill>
          <a:blip r:embed="rId1"/>
          <a:stretch/>
        </p:blipFill>
        <p:spPr>
          <a:xfrm>
            <a:off x="502920" y="1005840"/>
            <a:ext cx="5531760" cy="3111480"/>
          </a:xfrm>
          <a:prstGeom prst="rect">
            <a:avLst/>
          </a:prstGeom>
          <a:noFill/>
          <a:ln w="0">
            <a:noFill/>
          </a:ln>
        </p:spPr>
      </p:pic>
      <p:pic>
        <p:nvPicPr>
          <p:cNvPr id="84" name="Picture 7" descr="image.png"/>
          <p:cNvPicPr/>
          <p:nvPr/>
        </p:nvPicPr>
        <p:blipFill>
          <a:blip r:embed="rId2"/>
          <a:stretch/>
        </p:blipFill>
        <p:spPr>
          <a:xfrm>
            <a:off x="6236280" y="1005840"/>
            <a:ext cx="5531760" cy="3111480"/>
          </a:xfrm>
          <a:prstGeom prst="rect">
            <a:avLst/>
          </a:prstGeom>
          <a:noFill/>
          <a:ln w="0">
            <a:noFill/>
          </a:ln>
        </p:spPr>
      </p:pic>
      <p:sp>
        <p:nvSpPr>
          <p:cNvPr id="85" name="TextBox 8"/>
          <p:cNvSpPr/>
          <p:nvPr/>
        </p:nvSpPr>
        <p:spPr>
          <a:xfrm>
            <a:off x="502920" y="5870520"/>
            <a:ext cx="5531760" cy="255600"/>
          </a:xfrm>
          <a:prstGeom prst="rect">
            <a:avLst/>
          </a:prstGeom>
          <a:noFill/>
          <a:ln w="0">
            <a:noFill/>
          </a:ln>
        </p:spPr>
        <p:style>
          <a:lnRef idx="0"/>
          <a:fillRef idx="0"/>
          <a:effectRef idx="0"/>
          <a:fontRef idx="minor"/>
        </p:style>
        <p:txBody>
          <a:bodyPr wrap="none" lIns="90000" tIns="45000" rIns="90000" bIns="45000" anchor="t">
            <a:spAutoFit/>
          </a:bodyPr>
          <a:p>
            <a:pPr algn="ctr">
              <a:lnSpc>
                <a:spcPct val="100000"/>
              </a:lnSpc>
            </a:pPr>
            <a:r>
              <a:rPr lang="en-IN" sz="1200" b="1" u="none" strike="noStrike">
                <a:solidFill>
                  <a:srgbClr val="1F4E79"/>
                </a:solidFill>
                <a:effectLst/>
                <a:uFillTx/>
                <a:latin typeface="Arial"/>
                <a:ea typeface="Arial"/>
              </a:rPr>
              <a:t>Langflow workflow</a:t>
            </a:r>
            <a:endParaRPr lang="en-IN" sz="1200" b="0" u="none" strike="noStrike">
              <a:solidFill>
                <a:srgbClr val="000000"/>
              </a:solidFill>
              <a:effectLst/>
              <a:uFillTx/>
              <a:latin typeface="Arial"/>
            </a:endParaRPr>
          </a:p>
        </p:txBody>
      </p:sp>
      <p:sp>
        <p:nvSpPr>
          <p:cNvPr id="86" name="TextBox 9"/>
          <p:cNvSpPr/>
          <p:nvPr/>
        </p:nvSpPr>
        <p:spPr>
          <a:xfrm>
            <a:off x="6236280" y="5870520"/>
            <a:ext cx="5531760" cy="255600"/>
          </a:xfrm>
          <a:prstGeom prst="rect">
            <a:avLst/>
          </a:prstGeom>
          <a:noFill/>
          <a:ln w="0">
            <a:noFill/>
          </a:ln>
        </p:spPr>
        <p:style>
          <a:lnRef idx="0"/>
          <a:fillRef idx="0"/>
          <a:effectRef idx="0"/>
          <a:fontRef idx="minor"/>
        </p:style>
        <p:txBody>
          <a:bodyPr wrap="none" lIns="90000" tIns="45000" rIns="90000" bIns="45000" anchor="t">
            <a:spAutoFit/>
          </a:bodyPr>
          <a:p>
            <a:pPr algn="ctr">
              <a:lnSpc>
                <a:spcPct val="100000"/>
              </a:lnSpc>
            </a:pPr>
            <a:r>
              <a:rPr lang="en-IN" sz="1200" b="1" u="none" strike="noStrike">
                <a:solidFill>
                  <a:srgbClr val="1F4E79"/>
                </a:solidFill>
                <a:effectLst/>
                <a:uFillTx/>
                <a:latin typeface="Arial"/>
                <a:ea typeface="Arial"/>
              </a:rPr>
              <a:t>VS Code architecture / implementation</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TextBox 1"/>
          <p:cNvSpPr/>
          <p:nvPr/>
        </p:nvSpPr>
        <p:spPr>
          <a:xfrm>
            <a:off x="475560" y="283320"/>
            <a:ext cx="9317520" cy="5842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3200" b="1" u="none" strike="noStrike">
                <a:solidFill>
                  <a:srgbClr val="000000"/>
                </a:solidFill>
                <a:effectLst/>
                <a:uFillTx/>
                <a:latin typeface="Arial"/>
                <a:ea typeface="Arial"/>
              </a:rPr>
              <a:t>Role of Agentic AI in the solution </a:t>
            </a:r>
            <a:endParaRPr lang="en-IN" sz="3200" b="0" u="none" strike="noStrike">
              <a:solidFill>
                <a:srgbClr val="000000"/>
              </a:solidFill>
              <a:effectLst/>
              <a:uFillTx/>
              <a:latin typeface="Arial"/>
            </a:endParaRPr>
          </a:p>
        </p:txBody>
      </p:sp>
      <p:sp>
        <p:nvSpPr>
          <p:cNvPr id="88" name="TextBox 2"/>
          <p:cNvSpPr/>
          <p:nvPr/>
        </p:nvSpPr>
        <p:spPr>
          <a:xfrm>
            <a:off x="621720" y="1167480"/>
            <a:ext cx="7406280" cy="3108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IN" sz="1400" b="0" u="none" strike="noStrike">
                <a:solidFill>
                  <a:srgbClr val="000000"/>
                </a:solidFill>
                <a:effectLst/>
                <a:uFillTx/>
                <a:latin typeface="Arial"/>
                <a:ea typeface="Arial"/>
              </a:rPr>
              <a:t>Role of Agentic AI in the SmartRecipe AI Agent</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Agentic AI starts from what the user has available and builds a cookable recipe around it. It matches ingredients against dietary constraints, retrieves grounded recipe context, calculates serving adjustments, and structures the result into a beginner-friendly guide.</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When a user adds a constraint such as vegetarian or vegan, the next response reflects it. When an ingredient is missing, the agent proposes a practical substitution instead of failing. This makes the system a context-aware cooking assistant that supports healthier lifestyle decisions and reduces food waste.</a:t>
            </a:r>
            <a:endParaRPr lang="en-IN" sz="1400" b="0" u="none" strike="noStrike">
              <a:solidFill>
                <a:srgbClr val="000000"/>
              </a:solidFill>
              <a:effectLst/>
              <a:uFillTx/>
              <a:latin typeface="Arial"/>
            </a:endParaRPr>
          </a:p>
        </p:txBody>
      </p:sp>
      <p:pic>
        <p:nvPicPr>
          <p:cNvPr id="89" name="Picture 3" descr="image.png"/>
          <p:cNvPicPr/>
          <p:nvPr/>
        </p:nvPicPr>
        <p:blipFill>
          <a:blip r:embed="rId1"/>
          <a:stretch/>
        </p:blipFill>
        <p:spPr>
          <a:xfrm>
            <a:off x="7726680" y="3703320"/>
            <a:ext cx="3520080" cy="1980000"/>
          </a:xfrm>
          <a:prstGeom prst="rect">
            <a:avLst/>
          </a:prstGeom>
          <a:noFill/>
          <a:ln w="0">
            <a:noFill/>
          </a:ln>
        </p:spPr>
      </p:pic>
      <p:sp>
        <p:nvSpPr>
          <p:cNvPr id="90" name="TextBox 4"/>
          <p:cNvSpPr/>
          <p:nvPr/>
        </p:nvSpPr>
        <p:spPr>
          <a:xfrm>
            <a:off x="7726680" y="5760720"/>
            <a:ext cx="3520080" cy="255600"/>
          </a:xfrm>
          <a:prstGeom prst="rect">
            <a:avLst/>
          </a:prstGeom>
          <a:noFill/>
          <a:ln w="0">
            <a:noFill/>
          </a:ln>
        </p:spPr>
        <p:style>
          <a:lnRef idx="0"/>
          <a:fillRef idx="0"/>
          <a:effectRef idx="0"/>
          <a:fontRef idx="minor"/>
        </p:style>
        <p:txBody>
          <a:bodyPr wrap="none" lIns="90000" tIns="45000" rIns="90000" bIns="45000" anchor="t">
            <a:spAutoFit/>
          </a:bodyPr>
          <a:p>
            <a:pPr algn="ctr">
              <a:lnSpc>
                <a:spcPct val="100000"/>
              </a:lnSpc>
            </a:pPr>
            <a:r>
              <a:rPr lang="en-IN" sz="1200" b="1" u="none" strike="noStrike">
                <a:solidFill>
                  <a:srgbClr val="1F4E79"/>
                </a:solidFill>
                <a:effectLst/>
                <a:uFillTx/>
                <a:latin typeface="Arial"/>
                <a:ea typeface="Arial"/>
              </a:rPr>
              <a:t>Serving-scaling implementation evidence</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Google Shape;278;p18"/>
          <p:cNvSpPr/>
          <p:nvPr/>
        </p:nvSpPr>
        <p:spPr>
          <a:xfrm>
            <a:off x="793080" y="341640"/>
            <a:ext cx="6444000" cy="703800"/>
          </a:xfrm>
          <a:prstGeom prst="rect">
            <a:avLst/>
          </a:prstGeom>
          <a:noFill/>
          <a:ln w="0">
            <a:noFill/>
          </a:ln>
        </p:spPr>
        <p:style>
          <a:lnRef idx="0"/>
          <a:fillRef idx="0"/>
          <a:effectRef idx="0"/>
          <a:fontRef idx="minor"/>
        </p:style>
        <p:txBody>
          <a:bodyPr lIns="0" tIns="0" rIns="0" bIns="0" anchor="t">
            <a:noAutofit/>
          </a:bodyPr>
          <a:p>
            <a:pPr>
              <a:lnSpc>
                <a:spcPct val="157000"/>
              </a:lnSpc>
            </a:pPr>
            <a:r>
              <a:rPr lang="en-US" sz="2400" b="1" u="none" strike="noStrike">
                <a:solidFill>
                  <a:srgbClr val="000000"/>
                </a:solidFill>
                <a:effectLst/>
                <a:uFillTx/>
                <a:latin typeface="Arial"/>
                <a:ea typeface="Arial"/>
              </a:rPr>
              <a:t>Token Usage </a:t>
            </a:r>
            <a:endParaRPr lang="en-IN" sz="2400" b="0" u="none" strike="noStrike">
              <a:solidFill>
                <a:srgbClr val="000000"/>
              </a:solidFill>
              <a:effectLst/>
              <a:uFillTx/>
              <a:latin typeface="Arial"/>
            </a:endParaRPr>
          </a:p>
        </p:txBody>
      </p:sp>
      <p:sp>
        <p:nvSpPr>
          <p:cNvPr id="92" name="TextBox 4"/>
          <p:cNvSpPr/>
          <p:nvPr/>
        </p:nvSpPr>
        <p:spPr>
          <a:xfrm>
            <a:off x="897480" y="1042200"/>
            <a:ext cx="4370760" cy="30744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lang="en-IN" sz="1400" b="0" u="none" strike="noStrike">
                <a:solidFill>
                  <a:srgbClr val="000000"/>
                </a:solidFill>
                <a:effectLst/>
                <a:uFillTx/>
                <a:latin typeface="Arial"/>
                <a:ea typeface="Arial"/>
              </a:rPr>
              <a:t>Token Usage / Implementation Verification</a:t>
            </a:r>
            <a:endParaRPr lang="en-IN" sz="1400" b="0" u="none" strike="noStrike">
              <a:solidFill>
                <a:srgbClr val="000000"/>
              </a:solidFill>
              <a:effectLst/>
              <a:uFillTx/>
              <a:latin typeface="Arial"/>
            </a:endParaRPr>
          </a:p>
        </p:txBody>
      </p:sp>
      <p:pic>
        <p:nvPicPr>
          <p:cNvPr id="93" name="Picture 282" descr="image.png"/>
          <p:cNvPicPr/>
          <p:nvPr/>
        </p:nvPicPr>
        <p:blipFill>
          <a:blip r:embed="rId1"/>
          <a:stretch/>
        </p:blipFill>
        <p:spPr>
          <a:xfrm>
            <a:off x="777240" y="1901880"/>
            <a:ext cx="5257440" cy="2957040"/>
          </a:xfrm>
          <a:prstGeom prst="rect">
            <a:avLst/>
          </a:prstGeom>
          <a:noFill/>
          <a:ln w="0">
            <a:noFill/>
          </a:ln>
        </p:spPr>
      </p:pic>
      <p:pic>
        <p:nvPicPr>
          <p:cNvPr id="94" name="Picture 283" descr="image.png"/>
          <p:cNvPicPr/>
          <p:nvPr/>
        </p:nvPicPr>
        <p:blipFill>
          <a:blip r:embed="rId2"/>
          <a:stretch/>
        </p:blipFill>
        <p:spPr>
          <a:xfrm>
            <a:off x="6236280" y="1901880"/>
            <a:ext cx="5257440" cy="295704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TextBox 1"/>
          <p:cNvSpPr/>
          <p:nvPr/>
        </p:nvSpPr>
        <p:spPr>
          <a:xfrm>
            <a:off x="777240" y="484560"/>
            <a:ext cx="712296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Novelty and Uniqueness</a:t>
            </a:r>
            <a:endParaRPr lang="en-IN" sz="2400" b="0" u="none" strike="noStrike">
              <a:solidFill>
                <a:srgbClr val="000000"/>
              </a:solidFill>
              <a:effectLst/>
              <a:uFillTx/>
              <a:latin typeface="Arial"/>
            </a:endParaRPr>
          </a:p>
        </p:txBody>
      </p:sp>
      <p:sp>
        <p:nvSpPr>
          <p:cNvPr id="96" name="TextBox 2"/>
          <p:cNvSpPr/>
          <p:nvPr/>
        </p:nvSpPr>
        <p:spPr>
          <a:xfrm>
            <a:off x="777240" y="1207080"/>
            <a:ext cx="11301480" cy="52934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IN" sz="1400" b="0" u="none" strike="noStrike">
                <a:solidFill>
                  <a:srgbClr val="000000"/>
                </a:solidFill>
                <a:effectLst/>
                <a:uFillTx/>
                <a:latin typeface="Arial"/>
                <a:ea typeface="Arial"/>
              </a:rPr>
              <a:t>SmartRecipe AI is distinctive because it combines:</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Ingredient-First Discovery – Generates meals from available inventory, directly addressing food waste.</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Lightweight RAG – Retrieves from a compact, curated CSV knowledge base before generation.</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Automated Scaling – scale_recipe.py adjusts ingredient quantities for the requested serving size.</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Dietary Personalization – Supports vegetarian/vegan preferences and practical substitutions.</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Evidence-Based Build – The screenshots document VS Code project structure, Langflow execution, and generated recipe outputs.</a:t>
            </a:r>
            <a:endParaRPr lang="en-IN" sz="1400" b="0" u="none" strike="noStrike">
              <a:solidFill>
                <a:srgbClr val="000000"/>
              </a:solidFill>
              <a:effectLst/>
              <a:uFillTx/>
              <a:latin typeface="Arial"/>
            </a:endParaRPr>
          </a:p>
        </p:txBody>
      </p:sp>
      <p:pic>
        <p:nvPicPr>
          <p:cNvPr id="97" name="Picture 3" descr="image.png"/>
          <p:cNvPicPr/>
          <p:nvPr/>
        </p:nvPicPr>
        <p:blipFill>
          <a:blip r:embed="rId1"/>
          <a:stretch/>
        </p:blipFill>
        <p:spPr>
          <a:xfrm>
            <a:off x="7086600" y="3703320"/>
            <a:ext cx="4068720" cy="2288520"/>
          </a:xfrm>
          <a:prstGeom prst="rect">
            <a:avLst/>
          </a:prstGeom>
          <a:noFill/>
          <a:ln w="0">
            <a:noFill/>
          </a:ln>
        </p:spPr>
      </p:pic>
      <p:sp>
        <p:nvSpPr>
          <p:cNvPr id="98" name="TextBox 4"/>
          <p:cNvSpPr/>
          <p:nvPr/>
        </p:nvSpPr>
        <p:spPr>
          <a:xfrm>
            <a:off x="7086600" y="5833800"/>
            <a:ext cx="4068720" cy="255600"/>
          </a:xfrm>
          <a:prstGeom prst="rect">
            <a:avLst/>
          </a:prstGeom>
          <a:noFill/>
          <a:ln w="0">
            <a:noFill/>
          </a:ln>
        </p:spPr>
        <p:style>
          <a:lnRef idx="0"/>
          <a:fillRef idx="0"/>
          <a:effectRef idx="0"/>
          <a:fontRef idx="minor"/>
        </p:style>
        <p:txBody>
          <a:bodyPr wrap="none" lIns="90000" tIns="45000" rIns="90000" bIns="45000" anchor="t">
            <a:spAutoFit/>
          </a:bodyPr>
          <a:p>
            <a:pPr algn="ctr">
              <a:lnSpc>
                <a:spcPct val="100000"/>
              </a:lnSpc>
            </a:pPr>
            <a:r>
              <a:rPr lang="en-IN" sz="1200" b="1" u="none" strike="noStrike">
                <a:solidFill>
                  <a:srgbClr val="1F4E79"/>
                </a:solidFill>
                <a:effectLst/>
                <a:uFillTx/>
                <a:latin typeface="Arial"/>
                <a:ea typeface="Arial"/>
              </a:rPr>
              <a:t>VS Code project structure and implementation</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Google Shape;278;p18"/>
          <p:cNvSpPr/>
          <p:nvPr/>
        </p:nvSpPr>
        <p:spPr>
          <a:xfrm>
            <a:off x="1218600" y="420840"/>
            <a:ext cx="6444000" cy="703800"/>
          </a:xfrm>
          <a:prstGeom prst="rect">
            <a:avLst/>
          </a:prstGeom>
          <a:noFill/>
          <a:ln w="0">
            <a:noFill/>
          </a:ln>
        </p:spPr>
        <p:style>
          <a:lnRef idx="0"/>
          <a:fillRef idx="0"/>
          <a:effectRef idx="0"/>
          <a:fontRef idx="minor"/>
        </p:style>
        <p:txBody>
          <a:bodyPr lIns="0" tIns="0" rIns="0" bIns="0" anchor="t">
            <a:noAutofit/>
          </a:bodyPr>
          <a:p>
            <a:pPr>
              <a:lnSpc>
                <a:spcPct val="157000"/>
              </a:lnSpc>
              <a:tabLst>
                <a:tab pos="0" algn="l"/>
              </a:tabLst>
            </a:pPr>
            <a:r>
              <a:rPr lang="en-US" sz="2400" b="1" u="none" strike="noStrike">
                <a:solidFill>
                  <a:srgbClr val="000000"/>
                </a:solidFill>
                <a:effectLst/>
                <a:uFillTx/>
                <a:latin typeface="Arial"/>
                <a:ea typeface="Arial"/>
              </a:rPr>
              <a:t>Git Hub Link</a:t>
            </a:r>
            <a:endParaRPr lang="en-IN" sz="2400" b="0" u="none" strike="noStrike">
              <a:solidFill>
                <a:srgbClr val="000000"/>
              </a:solidFill>
              <a:effectLst/>
              <a:uFillTx/>
              <a:latin typeface="Arial"/>
            </a:endParaRPr>
          </a:p>
        </p:txBody>
      </p:sp>
      <p:sp>
        <p:nvSpPr>
          <p:cNvPr id="100" name="Google Shape;279;p18"/>
          <p:cNvSpPr/>
          <p:nvPr/>
        </p:nvSpPr>
        <p:spPr>
          <a:xfrm>
            <a:off x="1218600" y="1153800"/>
            <a:ext cx="9214200" cy="427680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IN" sz="1400" b="0" u="none" strike="noStrike">
                <a:solidFill>
                  <a:srgbClr val="000000"/>
                </a:solidFill>
                <a:effectLst/>
                <a:uFillTx/>
                <a:latin typeface="Arial"/>
                <a:ea typeface="Arial"/>
              </a:rPr>
              <a:t>Working GitHub Repository:</a:t>
            </a:r>
            <a:endParaRPr lang="en-IN" sz="1400" b="0" u="none" strike="noStrike">
              <a:solidFill>
                <a:srgbClr val="000000"/>
              </a:solidFill>
              <a:effectLst/>
              <a:uFillTx/>
              <a:latin typeface="Arial"/>
            </a:endParaRPr>
          </a:p>
          <a:p>
            <a:pPr>
              <a:lnSpc>
                <a:spcPct val="100000"/>
              </a:lnSpc>
              <a:tabLst>
                <a:tab pos="0" algn="l"/>
              </a:tabLst>
            </a:pPr>
            <a:r>
              <a:rPr lang="en-IN" sz="1400" b="0" u="none" strike="noStrike">
                <a:solidFill>
                  <a:srgbClr val="000000"/>
                </a:solidFill>
                <a:effectLst/>
                <a:uFillTx/>
                <a:latin typeface="Arial"/>
                <a:ea typeface="Arial"/>
              </a:rPr>
              <a:t>https://github.com/saviochackoxavier-tech/SmartRecipe-AI</a:t>
            </a:r>
            <a:endParaRPr lang="en-IN" sz="1400" b="0" u="none" strike="noStrike">
              <a:solidFill>
                <a:srgbClr val="000000"/>
              </a:solidFill>
              <a:effectLst/>
              <a:uFillTx/>
              <a:latin typeface="Arial"/>
            </a:endParaRPr>
          </a:p>
          <a:p>
            <a:pPr>
              <a:lnSpc>
                <a:spcPct val="100000"/>
              </a:lnSpc>
              <a:tabLst>
                <a:tab pos="0" algn="l"/>
              </a:tabLst>
            </a:pPr>
            <a:endParaRPr lang="en-IN" sz="1400" b="0" u="none" strike="noStrike">
              <a:solidFill>
                <a:srgbClr val="000000"/>
              </a:solidFill>
              <a:effectLst/>
              <a:uFillTx/>
              <a:latin typeface="Arial"/>
            </a:endParaRPr>
          </a:p>
          <a:p>
            <a:pPr>
              <a:lnSpc>
                <a:spcPct val="100000"/>
              </a:lnSpc>
              <a:tabLst>
                <a:tab pos="0" algn="l"/>
              </a:tabLst>
            </a:pPr>
            <a:r>
              <a:rPr lang="en-IN" sz="1400" b="0" u="none" strike="noStrike">
                <a:solidFill>
                  <a:srgbClr val="000000"/>
                </a:solidFill>
                <a:effectLst/>
                <a:uFillTx/>
                <a:latin typeface="Arial"/>
                <a:ea typeface="Arial"/>
              </a:rPr>
              <a:t>Files Included:</a:t>
            </a:r>
            <a:endParaRPr lang="en-IN" sz="1400" b="0" u="none" strike="noStrike">
              <a:solidFill>
                <a:srgbClr val="000000"/>
              </a:solidFill>
              <a:effectLst/>
              <a:uFillTx/>
              <a:latin typeface="Arial"/>
            </a:endParaRPr>
          </a:p>
          <a:p>
            <a:pPr>
              <a:lnSpc>
                <a:spcPct val="100000"/>
              </a:lnSpc>
              <a:tabLst>
                <a:tab pos="0" algn="l"/>
              </a:tabLst>
            </a:pPr>
            <a:r>
              <a:rPr lang="en-IN" sz="1400" b="0" u="none" strike="noStrike">
                <a:solidFill>
                  <a:srgbClr val="000000"/>
                </a:solidFill>
                <a:effectLst/>
                <a:uFillTx/>
                <a:latin typeface="Arial"/>
                <a:ea typeface="Arial"/>
              </a:rPr>
              <a:t>1) app.json – exported Langflow flow configuration</a:t>
            </a:r>
            <a:endParaRPr lang="en-IN" sz="1400" b="0" u="none" strike="noStrike">
              <a:solidFill>
                <a:srgbClr val="000000"/>
              </a:solidFill>
              <a:effectLst/>
              <a:uFillTx/>
              <a:latin typeface="Arial"/>
            </a:endParaRPr>
          </a:p>
          <a:p>
            <a:pPr>
              <a:lnSpc>
                <a:spcPct val="100000"/>
              </a:lnSpc>
              <a:tabLst>
                <a:tab pos="0" algn="l"/>
              </a:tabLst>
            </a:pPr>
            <a:r>
              <a:rPr lang="en-IN" sz="1400" b="0" u="none" strike="noStrike">
                <a:solidFill>
                  <a:srgbClr val="000000"/>
                </a:solidFill>
                <a:effectLst/>
                <a:uFillTx/>
                <a:latin typeface="Arial"/>
                <a:ea typeface="Arial"/>
              </a:rPr>
              <a:t>2) README.md – documentation and setup guide</a:t>
            </a:r>
            <a:endParaRPr lang="en-IN" sz="1400" b="0" u="none" strike="noStrike">
              <a:solidFill>
                <a:srgbClr val="000000"/>
              </a:solidFill>
              <a:effectLst/>
              <a:uFillTx/>
              <a:latin typeface="Arial"/>
            </a:endParaRPr>
          </a:p>
          <a:p>
            <a:pPr>
              <a:lnSpc>
                <a:spcPct val="100000"/>
              </a:lnSpc>
              <a:tabLst>
                <a:tab pos="0" algn="l"/>
              </a:tabLst>
            </a:pPr>
            <a:r>
              <a:rPr lang="en-IN" sz="1400" b="0" u="none" strike="noStrike">
                <a:solidFill>
                  <a:srgbClr val="000000"/>
                </a:solidFill>
                <a:effectLst/>
                <a:uFillTx/>
                <a:latin typeface="Arial"/>
                <a:ea typeface="Arial"/>
              </a:rPr>
              <a:t>3) data/recipes.csv – custom recipe knowledge base</a:t>
            </a:r>
            <a:endParaRPr lang="en-IN" sz="1400" b="0" u="none" strike="noStrike">
              <a:solidFill>
                <a:srgbClr val="000000"/>
              </a:solidFill>
              <a:effectLst/>
              <a:uFillTx/>
              <a:latin typeface="Arial"/>
            </a:endParaRPr>
          </a:p>
          <a:p>
            <a:pPr>
              <a:lnSpc>
                <a:spcPct val="100000"/>
              </a:lnSpc>
              <a:tabLst>
                <a:tab pos="0" algn="l"/>
              </a:tabLst>
            </a:pPr>
            <a:r>
              <a:rPr lang="en-IN" sz="1400" b="0" u="none" strike="noStrike">
                <a:solidFill>
                  <a:srgbClr val="000000"/>
                </a:solidFill>
                <a:effectLst/>
                <a:uFillTx/>
                <a:latin typeface="Arial"/>
                <a:ea typeface="Arial"/>
              </a:rPr>
              <a:t>4) scale_recipe.py, recipe_agent_local.py, and requirements.txt</a:t>
            </a:r>
            <a:endParaRPr lang="en-IN" sz="1400" b="0" u="none" strike="noStrike">
              <a:solidFill>
                <a:srgbClr val="000000"/>
              </a:solidFill>
              <a:effectLst/>
              <a:uFillTx/>
              <a:latin typeface="Arial"/>
            </a:endParaRPr>
          </a:p>
          <a:p>
            <a:pPr>
              <a:lnSpc>
                <a:spcPct val="100000"/>
              </a:lnSpc>
              <a:tabLst>
                <a:tab pos="0" algn="l"/>
              </a:tabLst>
            </a:pPr>
            <a:endParaRPr lang="en-IN" sz="1400" b="0" u="none" strike="noStrike">
              <a:solidFill>
                <a:srgbClr val="000000"/>
              </a:solidFill>
              <a:effectLst/>
              <a:uFillTx/>
              <a:latin typeface="Arial"/>
            </a:endParaRPr>
          </a:p>
          <a:p>
            <a:pPr>
              <a:lnSpc>
                <a:spcPct val="100000"/>
              </a:lnSpc>
              <a:tabLst>
                <a:tab pos="0" algn="l"/>
              </a:tabLst>
            </a:pPr>
            <a:r>
              <a:rPr lang="en-IN" sz="1400" b="0" u="none" strike="noStrike">
                <a:solidFill>
                  <a:srgbClr val="000000"/>
                </a:solidFill>
                <a:effectLst/>
                <a:uFillTx/>
                <a:latin typeface="Arial"/>
                <a:ea typeface="Arial"/>
              </a:rPr>
              <a:t>The public repository should contain the real exported flow, problem-statement PDF, final presentation, and supporting files.</a:t>
            </a:r>
            <a:endParaRPr lang="en-IN" sz="1400" b="0" u="none" strike="noStrike">
              <a:solidFill>
                <a:srgbClr val="000000"/>
              </a:solidFill>
              <a:effectLst/>
              <a:uFillTx/>
              <a:latin typeface="Arial"/>
            </a:endParaRPr>
          </a:p>
        </p:txBody>
      </p:sp>
      <p:sp>
        <p:nvSpPr>
          <p:cNvPr id="101" name="Google Shape;280;p18"/>
          <p:cNvSpPr/>
          <p:nvPr/>
        </p:nvSpPr>
        <p:spPr>
          <a:xfrm>
            <a:off x="1218600" y="336024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02" name="Google Shape;281;p18"/>
          <p:cNvSpPr/>
          <p:nvPr/>
        </p:nvSpPr>
        <p:spPr>
          <a:xfrm>
            <a:off x="1218600" y="439560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03" name="Google Shape;282;p18"/>
          <p:cNvSpPr/>
          <p:nvPr/>
        </p:nvSpPr>
        <p:spPr>
          <a:xfrm>
            <a:off x="1218600" y="5430600"/>
            <a:ext cx="7468200" cy="38268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pic>
        <p:nvPicPr>
          <p:cNvPr id="104" name="Picture 282" descr="image.png"/>
          <p:cNvPicPr/>
          <p:nvPr/>
        </p:nvPicPr>
        <p:blipFill>
          <a:blip r:embed="rId1"/>
          <a:stretch/>
        </p:blipFill>
        <p:spPr>
          <a:xfrm>
            <a:off x="7113960" y="3794760"/>
            <a:ext cx="4343040" cy="2442960"/>
          </a:xfrm>
          <a:prstGeom prst="rect">
            <a:avLst/>
          </a:prstGeom>
          <a:noFill/>
          <a:ln w="0">
            <a:noFill/>
          </a:ln>
        </p:spPr>
      </p:pic>
      <p:sp>
        <p:nvSpPr>
          <p:cNvPr id="105" name="TextBox 283"/>
          <p:cNvSpPr/>
          <p:nvPr/>
        </p:nvSpPr>
        <p:spPr>
          <a:xfrm>
            <a:off x="7113960" y="5788080"/>
            <a:ext cx="4343040" cy="255600"/>
          </a:xfrm>
          <a:prstGeom prst="rect">
            <a:avLst/>
          </a:prstGeom>
          <a:noFill/>
          <a:ln w="0">
            <a:noFill/>
          </a:ln>
        </p:spPr>
        <p:style>
          <a:lnRef idx="0"/>
          <a:fillRef idx="0"/>
          <a:effectRef idx="0"/>
          <a:fontRef idx="minor"/>
        </p:style>
        <p:txBody>
          <a:bodyPr wrap="none" lIns="90000" tIns="45000" rIns="90000" bIns="45000" anchor="t">
            <a:spAutoFit/>
          </a:bodyPr>
          <a:p>
            <a:pPr algn="ctr">
              <a:lnSpc>
                <a:spcPct val="100000"/>
              </a:lnSpc>
            </a:pPr>
            <a:r>
              <a:rPr lang="en-IN" sz="1200" b="1" u="none" strike="noStrike">
                <a:solidFill>
                  <a:srgbClr val="1F4E79"/>
                </a:solidFill>
                <a:effectLst/>
                <a:uFillTx/>
                <a:latin typeface="Arial"/>
                <a:ea typeface="Arial"/>
              </a:rPr>
              <a:t>Project repository evidence</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Google Shape;278;p18"/>
          <p:cNvSpPr/>
          <p:nvPr/>
        </p:nvSpPr>
        <p:spPr>
          <a:xfrm>
            <a:off x="1218600" y="420840"/>
            <a:ext cx="6444000" cy="703800"/>
          </a:xfrm>
          <a:prstGeom prst="rect">
            <a:avLst/>
          </a:prstGeom>
          <a:noFill/>
          <a:ln w="0">
            <a:noFill/>
          </a:ln>
        </p:spPr>
        <p:style>
          <a:lnRef idx="0"/>
          <a:fillRef idx="0"/>
          <a:effectRef idx="0"/>
          <a:fontRef idx="minor"/>
        </p:style>
        <p:txBody>
          <a:bodyPr lIns="0" tIns="0" rIns="0" bIns="0" anchor="t">
            <a:noAutofit/>
          </a:bodyPr>
          <a:p>
            <a:pPr>
              <a:lnSpc>
                <a:spcPct val="157000"/>
              </a:lnSpc>
              <a:tabLst>
                <a:tab pos="0" algn="l"/>
              </a:tabLst>
            </a:pPr>
            <a:r>
              <a:rPr lang="en-US" sz="2400" b="1" u="none" strike="noStrike">
                <a:solidFill>
                  <a:srgbClr val="000000"/>
                </a:solidFill>
                <a:effectLst/>
                <a:uFillTx/>
                <a:latin typeface="Arial"/>
                <a:ea typeface="Arial"/>
              </a:rPr>
              <a:t>Future Scope </a:t>
            </a:r>
            <a:endParaRPr lang="en-IN" sz="2400" b="0" u="none" strike="noStrike">
              <a:solidFill>
                <a:srgbClr val="000000"/>
              </a:solidFill>
              <a:effectLst/>
              <a:uFillTx/>
              <a:latin typeface="Arial"/>
            </a:endParaRPr>
          </a:p>
        </p:txBody>
      </p:sp>
      <p:sp>
        <p:nvSpPr>
          <p:cNvPr id="107" name="Google Shape;279;p18"/>
          <p:cNvSpPr/>
          <p:nvPr/>
        </p:nvSpPr>
        <p:spPr>
          <a:xfrm>
            <a:off x="1218600" y="1221840"/>
            <a:ext cx="9214200" cy="4276800"/>
          </a:xfrm>
          <a:prstGeom prst="rect">
            <a:avLst/>
          </a:prstGeom>
          <a:noFill/>
          <a:ln w="0">
            <a:noFill/>
          </a:ln>
        </p:spPr>
        <p:style>
          <a:lnRef idx="0"/>
          <a:fillRef idx="0"/>
          <a:effectRef idx="0"/>
          <a:fontRef idx="minor"/>
        </p:style>
        <p:txBody>
          <a:bodyPr lIns="0" tIns="0" rIns="0" bIns="0" anchor="t">
            <a:noAutofit/>
          </a:bodyPr>
          <a:p>
            <a:pPr>
              <a:lnSpc>
                <a:spcPct val="100000"/>
              </a:lnSpc>
            </a:pPr>
            <a:r>
              <a:rPr lang="en-IN" sz="1400" b="0" u="none" strike="noStrike">
                <a:solidFill>
                  <a:srgbClr val="000000"/>
                </a:solidFill>
                <a:effectLst/>
                <a:uFillTx/>
                <a:latin typeface="Arial"/>
                <a:ea typeface="Arial"/>
              </a:rPr>
              <a:t>1. Smart Pantry Integration – Connect the agent to IoT refrigerators or mobile inventory apps to track expiring ingredients.</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2. Multimodal Input – Let users photograph an open refrigerator shelf and receive recipe options through image recognition.</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3. Multilingual &amp; Voice Support – Add regional-language and voice interaction for broader accessibility.</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4. Grocery-List Integration – Generate a shopping list for missing ingredients and connect to local grocery services.</a:t>
            </a:r>
            <a:endParaRPr lang="en-IN" sz="1400" b="0" u="none" strike="noStrike">
              <a:solidFill>
                <a:srgbClr val="000000"/>
              </a:solidFill>
              <a:effectLst/>
              <a:uFillTx/>
              <a:latin typeface="Arial"/>
            </a:endParaRPr>
          </a:p>
        </p:txBody>
      </p:sp>
      <p:sp>
        <p:nvSpPr>
          <p:cNvPr id="108" name="Google Shape;280;p18"/>
          <p:cNvSpPr/>
          <p:nvPr/>
        </p:nvSpPr>
        <p:spPr>
          <a:xfrm>
            <a:off x="1218600" y="3360240"/>
            <a:ext cx="7468200" cy="765720"/>
          </a:xfrm>
          <a:prstGeom prst="rect">
            <a:avLst/>
          </a:prstGeom>
          <a:noFill/>
          <a:ln w="0">
            <a:noFill/>
          </a:ln>
        </p:spPr>
        <p:style>
          <a:lnRef idx="0"/>
          <a:fillRef idx="0"/>
          <a:effectRef idx="0"/>
          <a:fontRef idx="minor"/>
        </p:style>
        <p:txBody>
          <a:bodyPr lIns="0" tIns="0" rIns="0" bIns="0" anchor="t">
            <a:noAutofit/>
          </a:bodyPr>
          <a:p>
            <a:endParaRPr lang="en-IN" sz="1400" b="0" u="none" strike="noStrike">
              <a:solidFill>
                <a:srgbClr val="000000"/>
              </a:solidFill>
              <a:effectLst/>
              <a:uFillTx/>
              <a:latin typeface="Arial"/>
            </a:endParaRPr>
          </a:p>
        </p:txBody>
      </p:sp>
      <p:sp>
        <p:nvSpPr>
          <p:cNvPr id="109" name="Google Shape;281;p18"/>
          <p:cNvSpPr/>
          <p:nvPr/>
        </p:nvSpPr>
        <p:spPr>
          <a:xfrm>
            <a:off x="1218600" y="4395600"/>
            <a:ext cx="7468200" cy="765720"/>
          </a:xfrm>
          <a:prstGeom prst="rect">
            <a:avLst/>
          </a:prstGeom>
          <a:noFill/>
          <a:ln w="0">
            <a:noFill/>
          </a:ln>
        </p:spPr>
        <p:style>
          <a:lnRef idx="0"/>
          <a:fillRef idx="0"/>
          <a:effectRef idx="0"/>
          <a:fontRef idx="minor"/>
        </p:style>
        <p:txBody>
          <a:bodyPr lIns="0" tIns="0" rIns="0" bIns="0" anchor="t">
            <a:noAutofit/>
          </a:bodyPr>
          <a:p>
            <a:endParaRPr lang="en-IN" sz="1400" b="0" u="none" strike="noStrike">
              <a:solidFill>
                <a:srgbClr val="000000"/>
              </a:solidFill>
              <a:effectLst/>
              <a:uFillTx/>
              <a:latin typeface="Arial"/>
            </a:endParaRPr>
          </a:p>
        </p:txBody>
      </p:sp>
      <p:sp>
        <p:nvSpPr>
          <p:cNvPr id="110" name="Google Shape;282;p18"/>
          <p:cNvSpPr/>
          <p:nvPr/>
        </p:nvSpPr>
        <p:spPr>
          <a:xfrm>
            <a:off x="1218600" y="5430600"/>
            <a:ext cx="7468200" cy="382680"/>
          </a:xfrm>
          <a:prstGeom prst="rect">
            <a:avLst/>
          </a:prstGeom>
          <a:noFill/>
          <a:ln w="0">
            <a:noFill/>
          </a:ln>
        </p:spPr>
        <p:style>
          <a:lnRef idx="0"/>
          <a:fillRef idx="0"/>
          <a:effectRef idx="0"/>
          <a:fontRef idx="minor"/>
        </p:style>
        <p:txBody>
          <a:bodyPr lIns="0" tIns="0" rIns="0" bIns="0" anchor="t">
            <a:noAutofit/>
          </a:bodyPr>
          <a:p>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TextBox 5"/>
          <p:cNvSpPr/>
          <p:nvPr/>
        </p:nvSpPr>
        <p:spPr>
          <a:xfrm>
            <a:off x="327960" y="207360"/>
            <a:ext cx="6095520" cy="67680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lang="en-US" sz="2400" b="1" u="none" strike="noStrike">
                <a:solidFill>
                  <a:srgbClr val="000000"/>
                </a:solidFill>
                <a:effectLst/>
                <a:uFillTx/>
                <a:latin typeface="Arial"/>
                <a:ea typeface="Arial"/>
              </a:rPr>
              <a:t>Certificates Earned:</a:t>
            </a:r>
            <a:endParaRPr lang="en-IN" sz="2400" b="0" u="none" strike="noStrike">
              <a:solidFill>
                <a:srgbClr val="000000"/>
              </a:solidFill>
              <a:effectLst/>
              <a:uFillTx/>
              <a:latin typeface="Arial"/>
            </a:endParaRPr>
          </a:p>
          <a:p>
            <a:pPr algn="ctr">
              <a:lnSpc>
                <a:spcPct val="100000"/>
              </a:lnSpc>
            </a:pPr>
            <a:endParaRPr lang="en-IN" sz="1400" b="0" u="none" strike="noStrike">
              <a:solidFill>
                <a:srgbClr val="000000"/>
              </a:solidFill>
              <a:effectLst/>
              <a:uFillTx/>
              <a:latin typeface="Arial"/>
            </a:endParaRPr>
          </a:p>
        </p:txBody>
      </p:sp>
      <p:sp>
        <p:nvSpPr>
          <p:cNvPr id="112" name="TextBox 2"/>
          <p:cNvSpPr/>
          <p:nvPr/>
        </p:nvSpPr>
        <p:spPr>
          <a:xfrm>
            <a:off x="551880" y="690120"/>
            <a:ext cx="6389640" cy="522720"/>
          </a:xfrm>
          <a:prstGeom prst="rect">
            <a:avLst/>
          </a:prstGeom>
          <a:noFill/>
          <a:ln w="0">
            <a:noFill/>
          </a:ln>
        </p:spPr>
        <p:style>
          <a:lnRef idx="0"/>
          <a:fillRef idx="0"/>
          <a:effectRef idx="0"/>
          <a:fontRef idx="minor"/>
        </p:style>
        <p:txBody>
          <a:bodyPr numCol="1" spcCol="0" horzOverflow="overflow" anchor="t">
            <a:spAutoFit/>
          </a:bodyPr>
          <a:p>
            <a:endParaRPr lang="en-IN" sz="1400" b="0" u="none" strike="noStrike">
              <a:solidFill>
                <a:srgbClr val="000000"/>
              </a:solidFill>
              <a:effectLst/>
              <a:uFillTx/>
              <a:latin typeface="Arial"/>
            </a:endParaRPr>
          </a:p>
        </p:txBody>
      </p:sp>
      <p:pic>
        <p:nvPicPr>
          <p:cNvPr id="113" name="Picture 6" descr="image.png"/>
          <p:cNvPicPr/>
          <p:nvPr/>
        </p:nvPicPr>
        <p:blipFill>
          <a:blip r:embed="rId1"/>
          <a:stretch/>
        </p:blipFill>
        <p:spPr>
          <a:xfrm>
            <a:off x="502920" y="1143000"/>
            <a:ext cx="5486040" cy="3347280"/>
          </a:xfrm>
          <a:prstGeom prst="rect">
            <a:avLst/>
          </a:prstGeom>
          <a:noFill/>
          <a:ln w="0">
            <a:noFill/>
          </a:ln>
        </p:spPr>
      </p:pic>
      <p:pic>
        <p:nvPicPr>
          <p:cNvPr id="114" name="Picture 7" descr="image.png"/>
          <p:cNvPicPr/>
          <p:nvPr/>
        </p:nvPicPr>
        <p:blipFill>
          <a:blip r:embed="rId2"/>
          <a:stretch/>
        </p:blipFill>
        <p:spPr>
          <a:xfrm>
            <a:off x="6199560" y="1143000"/>
            <a:ext cx="5486040" cy="3405240"/>
          </a:xfrm>
          <a:prstGeom prst="rect">
            <a:avLst/>
          </a:prstGeom>
          <a:noFill/>
          <a:ln w="0">
            <a:noFill/>
          </a:ln>
        </p:spPr>
      </p:pic>
      <p:sp>
        <p:nvSpPr>
          <p:cNvPr id="115" name="TextBox 8"/>
          <p:cNvSpPr/>
          <p:nvPr/>
        </p:nvSpPr>
        <p:spPr>
          <a:xfrm>
            <a:off x="502920" y="5824800"/>
            <a:ext cx="5486040" cy="255600"/>
          </a:xfrm>
          <a:prstGeom prst="rect">
            <a:avLst/>
          </a:prstGeom>
          <a:noFill/>
          <a:ln w="0">
            <a:noFill/>
          </a:ln>
        </p:spPr>
        <p:style>
          <a:lnRef idx="0"/>
          <a:fillRef idx="0"/>
          <a:effectRef idx="0"/>
          <a:fontRef idx="minor"/>
        </p:style>
        <p:txBody>
          <a:bodyPr wrap="none" lIns="90000" tIns="45000" rIns="90000" bIns="45000" anchor="t">
            <a:spAutoFit/>
          </a:bodyPr>
          <a:p>
            <a:pPr algn="ctr">
              <a:lnSpc>
                <a:spcPct val="100000"/>
              </a:lnSpc>
            </a:pPr>
            <a:r>
              <a:rPr lang="en-IN" sz="1200" b="1" u="none" strike="noStrike">
                <a:solidFill>
                  <a:srgbClr val="1F4E79"/>
                </a:solidFill>
                <a:effectLst/>
                <a:uFillTx/>
                <a:latin typeface="Arial"/>
                <a:ea typeface="Arial"/>
              </a:rPr>
              <a:t>Getting Started with Artificial Intelligence</a:t>
            </a:r>
            <a:endParaRPr lang="en-IN" sz="1200" b="0" u="none" strike="noStrike">
              <a:solidFill>
                <a:srgbClr val="000000"/>
              </a:solidFill>
              <a:effectLst/>
              <a:uFillTx/>
              <a:latin typeface="Arial"/>
            </a:endParaRPr>
          </a:p>
        </p:txBody>
      </p:sp>
      <p:sp>
        <p:nvSpPr>
          <p:cNvPr id="116" name="TextBox 9"/>
          <p:cNvSpPr/>
          <p:nvPr/>
        </p:nvSpPr>
        <p:spPr>
          <a:xfrm>
            <a:off x="6199560" y="5824800"/>
            <a:ext cx="5486040" cy="255600"/>
          </a:xfrm>
          <a:prstGeom prst="rect">
            <a:avLst/>
          </a:prstGeom>
          <a:noFill/>
          <a:ln w="0">
            <a:noFill/>
          </a:ln>
        </p:spPr>
        <p:style>
          <a:lnRef idx="0"/>
          <a:fillRef idx="0"/>
          <a:effectRef idx="0"/>
          <a:fontRef idx="minor"/>
        </p:style>
        <p:txBody>
          <a:bodyPr wrap="none" lIns="90000" tIns="45000" rIns="90000" bIns="45000" anchor="t">
            <a:spAutoFit/>
          </a:bodyPr>
          <a:p>
            <a:pPr algn="ctr">
              <a:lnSpc>
                <a:spcPct val="100000"/>
              </a:lnSpc>
            </a:pPr>
            <a:r>
              <a:rPr lang="en-IN" sz="1200" b="1" u="none" strike="noStrike">
                <a:solidFill>
                  <a:srgbClr val="1F4E79"/>
                </a:solidFill>
                <a:effectLst/>
                <a:uFillTx/>
                <a:latin typeface="Arial"/>
                <a:ea typeface="Arial"/>
              </a:rPr>
              <a:t>Exploring Quantum Computing</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TextBox 4"/>
          <p:cNvSpPr/>
          <p:nvPr/>
        </p:nvSpPr>
        <p:spPr>
          <a:xfrm>
            <a:off x="176760" y="226440"/>
            <a:ext cx="6095520" cy="67680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lang="en-US" sz="2400" b="1" u="none" strike="noStrike">
                <a:solidFill>
                  <a:srgbClr val="000000"/>
                </a:solidFill>
                <a:effectLst/>
                <a:uFillTx/>
                <a:latin typeface="Arial"/>
                <a:ea typeface="Arial"/>
              </a:rPr>
              <a:t>Certificates Earned:</a:t>
            </a:r>
            <a:r>
              <a:rPr lang="en-US" sz="2400" b="0" u="none" strike="noStrike">
                <a:solidFill>
                  <a:srgbClr val="000000"/>
                </a:solidFill>
                <a:effectLst/>
                <a:uFillTx/>
                <a:latin typeface="Arial"/>
                <a:ea typeface="Arial"/>
              </a:rPr>
              <a:t>​</a:t>
            </a:r>
            <a:endParaRPr lang="en-IN" sz="2400" b="0" u="none" strike="noStrike">
              <a:solidFill>
                <a:srgbClr val="000000"/>
              </a:solidFill>
              <a:effectLst/>
              <a:uFillTx/>
              <a:latin typeface="Arial"/>
            </a:endParaRPr>
          </a:p>
          <a:p>
            <a:pPr algn="ctr">
              <a:lnSpc>
                <a:spcPct val="100000"/>
              </a:lnSpc>
            </a:pPr>
            <a:endParaRPr lang="en-IN" sz="1400" b="0" u="none" strike="noStrike">
              <a:solidFill>
                <a:srgbClr val="000000"/>
              </a:solidFill>
              <a:effectLst/>
              <a:uFillTx/>
              <a:latin typeface="Arial"/>
            </a:endParaRPr>
          </a:p>
        </p:txBody>
      </p:sp>
      <p:sp>
        <p:nvSpPr>
          <p:cNvPr id="118" name="TextBox 5"/>
          <p:cNvSpPr/>
          <p:nvPr/>
        </p:nvSpPr>
        <p:spPr>
          <a:xfrm>
            <a:off x="496800" y="800640"/>
            <a:ext cx="5437440" cy="399600"/>
          </a:xfrm>
          <a:prstGeom prst="rect">
            <a:avLst/>
          </a:prstGeom>
          <a:noFill/>
          <a:ln w="0">
            <a:noFill/>
          </a:ln>
        </p:spPr>
        <p:style>
          <a:lnRef idx="0"/>
          <a:fillRef idx="0"/>
          <a:effectRef idx="0"/>
          <a:fontRef idx="minor"/>
        </p:style>
        <p:txBody>
          <a:bodyPr numCol="1" spcCol="0" horzOverflow="overflow" anchor="t">
            <a:spAutoFit/>
          </a:bodyPr>
          <a:p>
            <a:endParaRPr lang="en-IN" sz="1400" b="0" u="none" strike="noStrike">
              <a:solidFill>
                <a:srgbClr val="000000"/>
              </a:solidFill>
              <a:effectLst/>
              <a:uFillTx/>
              <a:latin typeface="Arial"/>
            </a:endParaRPr>
          </a:p>
        </p:txBody>
      </p:sp>
      <p:pic>
        <p:nvPicPr>
          <p:cNvPr id="119" name="Picture 6" descr="image.png"/>
          <p:cNvPicPr/>
          <p:nvPr/>
        </p:nvPicPr>
        <p:blipFill>
          <a:blip r:embed="rId1"/>
          <a:stretch/>
        </p:blipFill>
        <p:spPr>
          <a:xfrm>
            <a:off x="502920" y="1143000"/>
            <a:ext cx="5486040" cy="3382560"/>
          </a:xfrm>
          <a:prstGeom prst="rect">
            <a:avLst/>
          </a:prstGeom>
          <a:noFill/>
          <a:ln w="0">
            <a:noFill/>
          </a:ln>
        </p:spPr>
      </p:pic>
      <p:pic>
        <p:nvPicPr>
          <p:cNvPr id="120" name="Picture 7" descr="image.png"/>
          <p:cNvPicPr/>
          <p:nvPr/>
        </p:nvPicPr>
        <p:blipFill>
          <a:blip r:embed="rId2"/>
          <a:stretch/>
        </p:blipFill>
        <p:spPr>
          <a:xfrm>
            <a:off x="6199560" y="1143000"/>
            <a:ext cx="5486040" cy="4106160"/>
          </a:xfrm>
          <a:prstGeom prst="rect">
            <a:avLst/>
          </a:prstGeom>
          <a:noFill/>
          <a:ln w="0">
            <a:noFill/>
          </a:ln>
        </p:spPr>
      </p:pic>
      <p:sp>
        <p:nvSpPr>
          <p:cNvPr id="121" name="TextBox 8"/>
          <p:cNvSpPr/>
          <p:nvPr/>
        </p:nvSpPr>
        <p:spPr>
          <a:xfrm>
            <a:off x="502920" y="5824800"/>
            <a:ext cx="5486040" cy="255600"/>
          </a:xfrm>
          <a:prstGeom prst="rect">
            <a:avLst/>
          </a:prstGeom>
          <a:noFill/>
          <a:ln w="0">
            <a:noFill/>
          </a:ln>
        </p:spPr>
        <p:style>
          <a:lnRef idx="0"/>
          <a:fillRef idx="0"/>
          <a:effectRef idx="0"/>
          <a:fontRef idx="minor"/>
        </p:style>
        <p:txBody>
          <a:bodyPr wrap="none" lIns="90000" tIns="45000" rIns="90000" bIns="45000" anchor="t">
            <a:spAutoFit/>
          </a:bodyPr>
          <a:p>
            <a:pPr algn="ctr">
              <a:lnSpc>
                <a:spcPct val="100000"/>
              </a:lnSpc>
            </a:pPr>
            <a:r>
              <a:rPr lang="en-IN" sz="1200" b="1" u="none" strike="noStrike">
                <a:solidFill>
                  <a:srgbClr val="1F4E79"/>
                </a:solidFill>
                <a:effectLst/>
                <a:uFillTx/>
                <a:latin typeface="Arial"/>
                <a:ea typeface="Arial"/>
              </a:rPr>
              <a:t>Lab: Troubleshoot Your Code Using IBM Bob</a:t>
            </a:r>
            <a:endParaRPr lang="en-IN" sz="1200" b="0" u="none" strike="noStrike">
              <a:solidFill>
                <a:srgbClr val="000000"/>
              </a:solidFill>
              <a:effectLst/>
              <a:uFillTx/>
              <a:latin typeface="Arial"/>
            </a:endParaRPr>
          </a:p>
        </p:txBody>
      </p:sp>
      <p:sp>
        <p:nvSpPr>
          <p:cNvPr id="122" name="TextBox 9"/>
          <p:cNvSpPr/>
          <p:nvPr/>
        </p:nvSpPr>
        <p:spPr>
          <a:xfrm>
            <a:off x="6199560" y="5824800"/>
            <a:ext cx="5486040" cy="255600"/>
          </a:xfrm>
          <a:prstGeom prst="rect">
            <a:avLst/>
          </a:prstGeom>
          <a:noFill/>
          <a:ln w="0">
            <a:noFill/>
          </a:ln>
        </p:spPr>
        <p:style>
          <a:lnRef idx="0"/>
          <a:fillRef idx="0"/>
          <a:effectRef idx="0"/>
          <a:fontRef idx="minor"/>
        </p:style>
        <p:txBody>
          <a:bodyPr wrap="none" lIns="90000" tIns="45000" rIns="90000" bIns="45000" anchor="t">
            <a:spAutoFit/>
          </a:bodyPr>
          <a:p>
            <a:pPr algn="ctr">
              <a:lnSpc>
                <a:spcPct val="100000"/>
              </a:lnSpc>
            </a:pPr>
            <a:r>
              <a:rPr lang="en-IN" sz="1200" b="1" u="none" strike="noStrike">
                <a:solidFill>
                  <a:srgbClr val="1F4E79"/>
                </a:solidFill>
                <a:effectLst/>
                <a:uFillTx/>
                <a:latin typeface="Arial"/>
                <a:ea typeface="Arial"/>
              </a:rPr>
              <a:t>Getting Started with Cybersecurity</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3" name="Google Shape;310;p20"/>
          <p:cNvPicPr/>
          <p:nvPr/>
        </p:nvPicPr>
        <p:blipFill>
          <a:blip r:embed="rId1"/>
          <a:stretch/>
        </p:blipFill>
        <p:spPr>
          <a:xfrm>
            <a:off x="0" y="2190240"/>
            <a:ext cx="12191760" cy="247716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LibreOffice/26.2.5.2$Windows_X86_64 LibreOffice_project/cd7284b4cbbfeb507e630c1aac019f4157393acb</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dc:description/>
  <dc:language>en-IN</dc:language>
  <cp:lastModifiedBy/>
  <dcterms:modified xsi:type="dcterms:W3CDTF">2026-09-12T01:04:41Z</dcterms:modified>
  <cp:revision>12</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Widescreen</vt:lpwstr>
  </property>
  <property fmtid="{D5CDD505-2E9C-101B-9397-08002B2CF9AE}" pid="4" name="Slides">
    <vt:i4>16</vt:i4>
  </property>
</Properties>
</file>